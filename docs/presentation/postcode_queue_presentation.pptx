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Открываем проблему как маршрут, а не как отдельный талон. За семь минут покажем путь клиента, ядро очереди и границы надёжности.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клиента несколько точек входа. Система должна сначала выбрать подходящее отделение, а затем честно провести человека через eligibility, запись или живую очередь и вызов.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Сначала проверяем eligibility, затем сортируем только допустимые варианты. Геопозиция может быть GPS или явной точкой. Расстояние — ориентир для выбора, не дорожная навигация.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Показываем не просто календарь: окно ограничено today…today + 14, бронь удерживается 15 минут, затем подтверждается OTP или одноразовой ссылкой. После подтверждения появляется scheduled visit и .ics.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Канонический порядок можно показать и проверить. При равенстве дедлайна источник имеет известный ранг, затем учитывается прибытие и стабильный 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важна конкретная гарантия: конкурентный CallNext выбирает разные строки благодаря блокировке FOR NO KEY UPDATE OF t SKIP LOCKED. Idempotency-Key защищает повтор запроса; это не обещание отсутствия всех race conditions.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экрана показывают одну и ту же очередь с разных ролей: клиент, оператор и зал. Визуальная связка важнее длинного списка функций.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Outbox относится к операционным уведомлениям: событие фиксируется рядом со сменой статуса, а dispatcher повторяет доставку с backoff. Первичное confirmation-email отправляется фоновой горутиной с таймаутом и может потребовать resend — это отдельная граница.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Backend — модульный монолит: единая доменная транзакция и простая эксплуатация. Внешний flow проходит через Cloudflare или host Nginx, затем Traefik/K3s и pods.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T1–T10 — coverage автоматизированного jury gate. Здесь не ставим статический PASS: актуальный результат зависит от свежего запуска. QR ведёт на demo asset или стенд.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Российский контур опирается на собственные узлы и stateless backend. 40 000+ отделений — не текущая метрика и не обещание, а архитектурное направление, которое потребует partitioning и отдельного capacity planning.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Закрываем тремя outcomes и зовём в demo. Не обещаем магию: показываем прозрачный маршрут, объяснимую очередь и операционный контур.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запись опоздала, policy определяет дальнейший статус; раннее прибытие проходит через обычную проверку и доступные правила очереди.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Haversine — оценка расстояния по координатам и ориентиру скорости. Для точного времени в пути нужна дорожная навигация, которой этот контур не обещает.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Единый backend упрощает доменные транзакции очереди и эксплуатацию пилота. Границы модулей оставляют направление для дальнейшего выделения сервисов, но микросервисы не выдаются за текущую архитектуру.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Outbox гарантирует сохранение операционного события рядом с транзакцией. Доставка во внешний канал остаётся retryable; первичное confirmation-email — отдельная фоновая отправка с возможным resend.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ArgoCD/GitOps даёт воспроизводимое применение манифестов и путь rollback. Масштабирование на 40 000+ отделений — предложение: partitioning и capacity planning должны быть проверены нагрузочными сценариями.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B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POSTCODE CHALLENGE 2026 • ПОЧТА РОССИИ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192024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Цифровая очередь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нового поколения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402336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 клиента от выбора отделения до подтверждённого визита — с объяснимым CallNext и операционными уведомлениями.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«5 указателей»  |  Go + PostgreSQL + React  |  pointers-team.tech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ПРОБЛЕМА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61320" y="38404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02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749808"/>
            <a:ext cx="10698480" cy="0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93268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Проблема решается маршрутом, а не талоном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051560" y="1874520"/>
            <a:ext cx="9966960" cy="0"/>
          </a:xfrm>
          <a:prstGeom prst="line">
            <a:avLst/>
          </a:prstGeom>
          <a:noFill/>
          <a:ln w="25400">
            <a:solidFill>
              <a:srgbClr val="0E6BD6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69264" y="179222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91584" y="179222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13904" y="179222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36224" y="1792224"/>
            <a:ext cx="164592" cy="164592"/>
          </a:xfrm>
          <a:prstGeom prst="ellipse">
            <a:avLst/>
          </a:prstGeom>
          <a:solidFill>
            <a:srgbClr val="10B981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0574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выбор отделения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931920" y="20574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eligibility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269480" y="20574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запись / QR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607040" y="20574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CallNext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788920"/>
            <a:ext cx="3383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06324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РАЗНЫЕ ИСТОЧНИКИ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60120" y="35204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Запись, QR и живая очередь требуют разных правил приоритета.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89120" y="2788920"/>
            <a:ext cx="3383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17720" y="306324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E5484D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НЕПОДХОДЯЩЕЕ ОПС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617720" y="35204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Закрытое, перегруженное или неоказывающее услугу отделение нельзя сортировать вместе с подходящими.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046720" y="2788920"/>
            <a:ext cx="3383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75320" y="306324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НЕТ ЕДИНОЙ ИСТИНЫ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75320" y="35204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Клиент, оператор и зал должны видеть один статус и следующий шаг.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5 указателей  ·  Цифровая очередь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498080" y="651052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POSTCODE CHALLENGE 2026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SMART ROUTE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61320" y="38404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03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749808"/>
            <a:ext cx="10698480" cy="0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93268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Smart Route отбрасывает неподходящие отделения до сортировки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4892040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pic>
        <p:nvPicPr>
          <p:cNvPr id="7" name="Image 0" descr="/home/vacuum/Desktop/tsifrovaya-ochered-novogo-pokoleniya/.worktrees/pitch-deck/docs/presentation/assets/crops/branch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847088"/>
            <a:ext cx="4672584" cy="3813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77824" y="5724144"/>
            <a:ext cx="45994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BRANCH MAP / ELIGIBILITY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989320" y="1737360"/>
            <a:ext cx="5440680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9360" y="20574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ПОРЯДОК РЕШЕНИЯ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6309360" y="25146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0" y="2514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GPS или явная точка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309360" y="32278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858000" y="32278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eligibility: услуга, часы, доступность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309360" y="3941064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858000" y="394106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сортировка по travel + queue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309360" y="4754880"/>
            <a:ext cx="4572000" cy="0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9360" y="4983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Haversine при 5 км/ч — ориентир, не дорожная навигация.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315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5 указателей  ·  Цифровая очередь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7498080" y="651052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POSTCODE CHALLENGE 2026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BOOKING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61320" y="38404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04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749808"/>
            <a:ext cx="10698480" cy="0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93268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Запись превращается в подтверждённый визит за 15 минут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3886200" cy="438912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pic>
        <p:nvPicPr>
          <p:cNvPr id="7" name="Image 0" descr="/home/vacuum/Desktop/tsifrovaya-ochered-novogo-pokoleniya/.worktrees/pitch-deck/docs/presentation/assets/crops/booking_calen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801368"/>
            <a:ext cx="3666744" cy="39502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77824" y="5815584"/>
            <a:ext cx="35935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CALENDAR / TODAY…TODAY + 14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800600" y="1691640"/>
            <a:ext cx="3246120" cy="4389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pic>
        <p:nvPicPr>
          <p:cNvPr id="10" name="Image 1" descr="/home/vacuum/Desktop/tsifrovaya-ochered-novogo-pokoleniya/.worktrees/pitch-deck/docs/presentation/assets/crops/otp_dial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801368"/>
            <a:ext cx="3026664" cy="39502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946904" y="5815584"/>
            <a:ext cx="29535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6-DIGIT OTP / ONE-TIME LINK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8275320" y="1691640"/>
            <a:ext cx="3154680" cy="4389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49640" y="201168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СТАТУС ВИЗИТА</a:t>
            </a:r>
            <a:endParaRPr lang="en-US" sz="800" dirty="0"/>
          </a:p>
        </p:txBody>
      </p:sp>
      <p:sp>
        <p:nvSpPr>
          <p:cNvPr id="14" name="Text 10"/>
          <p:cNvSpPr/>
          <p:nvPr/>
        </p:nvSpPr>
        <p:spPr>
          <a:xfrm>
            <a:off x="8549640" y="24688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PENDING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CONFIRMATION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732520" y="3657600"/>
            <a:ext cx="1920240" cy="0"/>
          </a:xfrm>
          <a:prstGeom prst="line">
            <a:avLst/>
          </a:prstGeom>
          <a:noFill/>
          <a:ln w="25400">
            <a:solidFill>
              <a:srgbClr val="0E6BD6"/>
            </a:solidFill>
            <a:prstDash val="solid"/>
            <a:headEnd type="none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8650224" y="357530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10570464" y="3575304"/>
            <a:ext cx="164592" cy="164592"/>
          </a:xfrm>
          <a:prstGeom prst="ellipse">
            <a:avLst/>
          </a:prstGeom>
          <a:solidFill>
            <a:srgbClr val="10B981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549640" y="3977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B981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SCHEDULED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8549640" y="46177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15 минут удержания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+ подтверждение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+ .ics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7315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5 указателей  ·  Цифровая очередь</a:t>
            </a:r>
            <a:endParaRPr lang="en-US" sz="800" dirty="0"/>
          </a:p>
        </p:txBody>
      </p:sp>
      <p:sp>
        <p:nvSpPr>
          <p:cNvPr id="21" name="Text 17"/>
          <p:cNvSpPr/>
          <p:nvPr/>
        </p:nvSpPr>
        <p:spPr>
          <a:xfrm>
            <a:off x="7498080" y="651052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POSTCODE CHALLENGE 2026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CALLNEXT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61320" y="38404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05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749808"/>
            <a:ext cx="10698480" cy="0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93268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CallNext всегда объясним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731520" y="1737360"/>
            <a:ext cx="6537960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574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КАНОНИЧЕСКИЙ ПОРЯДОК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51560" y="2560320"/>
            <a:ext cx="5715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03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due_at ASC,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effective_source_rank ASC,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checkin_at ASC, id ASC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51560" y="4251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Сначала дедлайн обслуживания → затем источник → прибытие → стабильный идентификатор.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543800" y="1737360"/>
            <a:ext cx="3886200" cy="425196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0" y="20574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РАНГИ ИСТОЧНИКОВ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955280" y="2697480"/>
            <a:ext cx="457200" cy="45720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0" y="2816352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686800" y="278892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Appointment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955280" y="3483864"/>
            <a:ext cx="457200" cy="457200"/>
          </a:xfrm>
          <a:prstGeom prst="ellipse">
            <a:avLst/>
          </a:prstGeom>
          <a:solidFill>
            <a:srgbClr val="0E6BD6"/>
          </a:solidFill>
          <a:ln w="12700">
            <a:solidFill>
              <a:srgbClr val="0E6B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0" y="3602736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686800" y="357530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QR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55280" y="4270248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55280" y="438912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0" y="4361688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Live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315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5 указателей  ·  Цифровая очередь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498080" y="651052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POSTCODE CHALLENGE 2026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CONCURRENCY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61320" y="38404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06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749808"/>
            <a:ext cx="10698480" cy="0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93268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Очередь не голодает и не блокирует окно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1069848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1488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ДВА ОПЕРАТОРА · ОДИН ПОТОК ОЖИДАНИЯ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0" y="3063240"/>
            <a:ext cx="9052560" cy="0"/>
          </a:xfrm>
          <a:prstGeom prst="line">
            <a:avLst/>
          </a:prstGeom>
          <a:noFill/>
          <a:ln w="25400">
            <a:solidFill>
              <a:srgbClr val="0E6BD6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1106424" y="298094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69564" y="298094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32704" y="298094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95844" y="298094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58984" y="2980944"/>
            <a:ext cx="164592" cy="164592"/>
          </a:xfrm>
          <a:prstGeom prst="ellipse">
            <a:avLst/>
          </a:prstGeom>
          <a:solidFill>
            <a:srgbClr val="10B981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36499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WAITING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971800" y="336499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T1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0" y="336499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T2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69480" y="336499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T3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18320" y="336499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CALLED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3977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3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NO KEY UPDATE OF t SKIP LOCKED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51560" y="44348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Конкурентный CallNext не ждёт занятую строку и назначает один талон одному оператору.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406640" y="3840480"/>
            <a:ext cx="3566160" cy="1143000"/>
          </a:xfrm>
          <a:prstGeom prst="roundRect">
            <a:avLst>
              <a:gd name="adj" fmla="val 9600"/>
            </a:avLst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0" y="41148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Idempotency-Key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315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5 указателей  ·  Цифровая очередь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7498080" y="651052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POSTCODE CHALLENGE 2026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ИНТЕРФЕЙСЫ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61320" y="38404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07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749808"/>
            <a:ext cx="10698480" cy="0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93268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Клиент видит следующий шаг, оператор — следующее действие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731520" y="1691640"/>
            <a:ext cx="3429000" cy="438912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pic>
        <p:nvPicPr>
          <p:cNvPr id="7" name="Image 0" descr="/home/vacuum/Desktop/tsifrovaya-ochered-novogo-pokoleniya/.worktrees/pitch-deck/docs/presentation/assets/crops/smart_route_l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801368"/>
            <a:ext cx="3209544" cy="39502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77824" y="5815584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КЛИЕНТ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389120" y="1691640"/>
            <a:ext cx="3429000" cy="438912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pic>
        <p:nvPicPr>
          <p:cNvPr id="10" name="Image 1" descr="/home/vacuum/Desktop/tsifrovaya-ochered-novogo-pokoleniya/.worktrees/pitch-deck/docs/presentation/assets/crops/my_ticket_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801368"/>
            <a:ext cx="3209544" cy="39502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35424" y="5815584"/>
            <a:ext cx="31363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ОПЕРАТОР</a:t>
            </a:r>
            <a:endParaRPr lang="en-US" sz="800" dirty="0"/>
          </a:p>
        </p:txBody>
      </p:sp>
      <p:sp>
        <p:nvSpPr>
          <p:cNvPr id="12" name="Shape 8"/>
          <p:cNvSpPr/>
          <p:nvPr/>
        </p:nvSpPr>
        <p:spPr>
          <a:xfrm>
            <a:off x="8046720" y="1691640"/>
            <a:ext cx="3383280" cy="438912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pic>
        <p:nvPicPr>
          <p:cNvPr id="13" name="Image 2" descr="/home/vacuum/Desktop/tsifrovaya-ochered-novogo-pokoleniya/.worktrees/pitch-deck/docs/presentation/assets/crops/tv_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1801368"/>
            <a:ext cx="3163824" cy="39502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93024" y="5815584"/>
            <a:ext cx="3090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ЗАЛ</a:t>
            </a:r>
            <a:endParaRPr lang="en-US" sz="800" dirty="0"/>
          </a:p>
        </p:txBody>
      </p:sp>
      <p:sp>
        <p:nvSpPr>
          <p:cNvPr id="15" name="Text 10"/>
          <p:cNvSpPr/>
          <p:nvPr/>
        </p:nvSpPr>
        <p:spPr>
          <a:xfrm>
            <a:off x="7315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5 указателей  ·  Цифровая очередь</a:t>
            </a:r>
            <a:endParaRPr lang="en-US" sz="800" dirty="0"/>
          </a:p>
        </p:txBody>
      </p:sp>
      <p:sp>
        <p:nvSpPr>
          <p:cNvPr id="16" name="Text 11"/>
          <p:cNvSpPr/>
          <p:nvPr/>
        </p:nvSpPr>
        <p:spPr>
          <a:xfrm>
            <a:off x="7498080" y="651052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POSTCODE CHALLENGE 2026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OUTBOX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61320" y="38404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08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749808"/>
            <a:ext cx="10698480" cy="0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93268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Сбой канала не откатывает вызов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3017520" cy="352044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1488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ТРАНЗАКЦИЯ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05840" y="2697480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3B73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CALL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003B73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+ статус талона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003B73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+ outbox event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05840" y="443484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одна фиксация в PostgreSQL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977640" y="3063240"/>
            <a:ext cx="3474720" cy="0"/>
          </a:xfrm>
          <a:prstGeom prst="line">
            <a:avLst/>
          </a:prstGeom>
          <a:noFill/>
          <a:ln w="25400">
            <a:solidFill>
              <a:srgbClr val="0E6BD6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895344" y="298094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32704" y="298094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70064" y="2980944"/>
            <a:ext cx="164592" cy="164592"/>
          </a:xfrm>
          <a:prstGeom prst="ellipse">
            <a:avLst/>
          </a:prstGeom>
          <a:solidFill>
            <a:srgbClr val="10B981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0" y="33832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outbox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303520" y="33832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retry / backoff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0" y="33832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канал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818120" y="1828800"/>
            <a:ext cx="3611880" cy="35204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38160" y="21488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F59E0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ОГОВОРКА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138160" y="2743200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Первичное confirmation-email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фоновой горутиной с таймаутом; при сбое может потребоваться resend.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138160" y="4663440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Outbox = операционные уведомления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5 указателей  ·  Цифровая очередь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498080" y="651052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POSTCODE CHALLENGE 2026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АРХИТЕКТУРА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61320" y="38404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09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749808"/>
            <a:ext cx="10698480" cy="0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93268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Один контур для клиента, ОПС и контроля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777240" y="2468880"/>
            <a:ext cx="1600200" cy="777240"/>
          </a:xfrm>
          <a:prstGeom prst="roundRect">
            <a:avLst>
              <a:gd name="adj" fmla="val 14118"/>
            </a:avLst>
          </a:prstGeom>
          <a:solidFill>
            <a:srgbClr val="EAF2FB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2697480"/>
            <a:ext cx="1453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Cloudflare /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host Nginx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0" y="2468880"/>
            <a:ext cx="1554480" cy="777240"/>
          </a:xfrm>
          <a:prstGeom prst="roundRect">
            <a:avLst>
              <a:gd name="adj" fmla="val 14118"/>
            </a:avLst>
          </a:prstGeom>
          <a:solidFill>
            <a:srgbClr val="EAF2FB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16352" y="2697480"/>
            <a:ext cx="14081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Traefik / K3s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874520"/>
            <a:ext cx="14630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6592" y="210312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frontend pod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3246120"/>
            <a:ext cx="14630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36592" y="347472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backend pod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модульный монолит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406640" y="1874520"/>
            <a:ext cx="15087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79792" y="2103120"/>
            <a:ext cx="1362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PostgreSQL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406640" y="3246120"/>
            <a:ext cx="150876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79792" y="3474720"/>
            <a:ext cx="1362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Outbox / Events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692640" y="2560320"/>
            <a:ext cx="1417320" cy="777240"/>
          </a:xfrm>
          <a:prstGeom prst="roundRect">
            <a:avLst>
              <a:gd name="adj" fmla="val 14118"/>
            </a:avLst>
          </a:prstGeom>
          <a:solidFill>
            <a:srgbClr val="EAF2FB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5792" y="2788920"/>
            <a:ext cx="1271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observability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377440" y="2852928"/>
            <a:ext cx="365760" cy="0"/>
          </a:xfrm>
          <a:prstGeom prst="line">
            <a:avLst/>
          </a:prstGeom>
          <a:noFill/>
          <a:ln w="19050">
            <a:solidFill>
              <a:srgbClr val="0E6BD6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297680" y="2852928"/>
            <a:ext cx="320040" cy="0"/>
          </a:xfrm>
          <a:prstGeom prst="line">
            <a:avLst/>
          </a:prstGeom>
          <a:noFill/>
          <a:ln w="19050">
            <a:solidFill>
              <a:srgbClr val="0E6BD6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172200" y="2258568"/>
            <a:ext cx="1234440" cy="0"/>
          </a:xfrm>
          <a:prstGeom prst="line">
            <a:avLst/>
          </a:prstGeom>
          <a:noFill/>
          <a:ln w="19050">
            <a:solidFill>
              <a:srgbClr val="0E6BD6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172200" y="3630168"/>
            <a:ext cx="1234440" cy="0"/>
          </a:xfrm>
          <a:prstGeom prst="line">
            <a:avLst/>
          </a:prstGeom>
          <a:noFill/>
          <a:ln w="19050">
            <a:solidFill>
              <a:srgbClr val="0E6BD6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006840" y="2258568"/>
            <a:ext cx="640080" cy="0"/>
          </a:xfrm>
          <a:prstGeom prst="line">
            <a:avLst/>
          </a:prstGeom>
          <a:noFill/>
          <a:ln w="19050">
            <a:solidFill>
              <a:srgbClr val="0E6BD6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006840" y="3630168"/>
            <a:ext cx="640080" cy="0"/>
          </a:xfrm>
          <a:prstGeom prst="line">
            <a:avLst/>
          </a:prstGeom>
          <a:noFill/>
          <a:ln w="19050">
            <a:solidFill>
              <a:srgbClr val="0E6BD6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914400" y="4892040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3B73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React 19  ·  Go  ·  PostgreSQL 17  ·  K3s / Traefik / ArgoCD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315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5 указателей  ·  Цифровая очередь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498080" y="651052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POSTCODE CHALLENGE 2026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ПИЛОТ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61320" y="38404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010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749808"/>
            <a:ext cx="10698480" cy="0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93268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Пилот проверяется десятью сценариями ТЗ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731520" y="1783080"/>
            <a:ext cx="7498080" cy="425196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10312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COVERAGE MAP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051560" y="2697480"/>
            <a:ext cx="960120" cy="502920"/>
          </a:xfrm>
          <a:prstGeom prst="roundRect">
            <a:avLst>
              <a:gd name="adj" fmla="val 14545"/>
            </a:avLst>
          </a:prstGeom>
          <a:solidFill>
            <a:srgbClr val="EAF2FB"/>
          </a:solidFill>
          <a:ln w="12700">
            <a:solidFill>
              <a:srgbClr val="0E6BD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86207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T1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77440" y="2697480"/>
            <a:ext cx="960120" cy="502920"/>
          </a:xfrm>
          <a:prstGeom prst="roundRect">
            <a:avLst>
              <a:gd name="adj" fmla="val 14545"/>
            </a:avLst>
          </a:prstGeom>
          <a:solidFill>
            <a:srgbClr val="EAF2FB"/>
          </a:solidFill>
          <a:ln w="12700">
            <a:solidFill>
              <a:srgbClr val="0E6BD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0" y="286207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T2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703320" y="2697480"/>
            <a:ext cx="960120" cy="502920"/>
          </a:xfrm>
          <a:prstGeom prst="roundRect">
            <a:avLst>
              <a:gd name="adj" fmla="val 14545"/>
            </a:avLst>
          </a:prstGeom>
          <a:solidFill>
            <a:srgbClr val="EAF2FB"/>
          </a:solidFill>
          <a:ln w="12700">
            <a:solidFill>
              <a:srgbClr val="0E6B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03320" y="286207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T3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0" y="2697480"/>
            <a:ext cx="960120" cy="502920"/>
          </a:xfrm>
          <a:prstGeom prst="roundRect">
            <a:avLst>
              <a:gd name="adj" fmla="val 14545"/>
            </a:avLst>
          </a:prstGeom>
          <a:solidFill>
            <a:srgbClr val="EAF2FB"/>
          </a:solidFill>
          <a:ln w="12700">
            <a:solidFill>
              <a:srgbClr val="0E6BD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286207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T4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55080" y="2697480"/>
            <a:ext cx="960120" cy="502920"/>
          </a:xfrm>
          <a:prstGeom prst="roundRect">
            <a:avLst>
              <a:gd name="adj" fmla="val 14545"/>
            </a:avLst>
          </a:prstGeom>
          <a:solidFill>
            <a:srgbClr val="EAF2FB"/>
          </a:solidFill>
          <a:ln w="12700">
            <a:solidFill>
              <a:srgbClr val="0E6B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286207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T5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51560" y="3703320"/>
            <a:ext cx="960120" cy="502920"/>
          </a:xfrm>
          <a:prstGeom prst="roundRect">
            <a:avLst>
              <a:gd name="adj" fmla="val 14545"/>
            </a:avLst>
          </a:prstGeom>
          <a:solidFill>
            <a:srgbClr val="EAF2FB"/>
          </a:solidFill>
          <a:ln w="12700">
            <a:solidFill>
              <a:srgbClr val="0E6BD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86791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T6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377440" y="3703320"/>
            <a:ext cx="960120" cy="502920"/>
          </a:xfrm>
          <a:prstGeom prst="roundRect">
            <a:avLst>
              <a:gd name="adj" fmla="val 14545"/>
            </a:avLst>
          </a:prstGeom>
          <a:solidFill>
            <a:srgbClr val="EAF2FB"/>
          </a:solidFill>
          <a:ln w="12700">
            <a:solidFill>
              <a:srgbClr val="0E6BD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377440" y="386791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T7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03320" y="3703320"/>
            <a:ext cx="960120" cy="502920"/>
          </a:xfrm>
          <a:prstGeom prst="roundRect">
            <a:avLst>
              <a:gd name="adj" fmla="val 14545"/>
            </a:avLst>
          </a:prstGeom>
          <a:solidFill>
            <a:srgbClr val="FFF7E6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03320" y="386791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T8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29200" y="3703320"/>
            <a:ext cx="960120" cy="502920"/>
          </a:xfrm>
          <a:prstGeom prst="roundRect">
            <a:avLst>
              <a:gd name="adj" fmla="val 14545"/>
            </a:avLst>
          </a:prstGeom>
          <a:solidFill>
            <a:srgbClr val="FFF7E6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0" y="386791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T9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355080" y="3703320"/>
            <a:ext cx="960120" cy="502920"/>
          </a:xfrm>
          <a:prstGeom prst="roundRect">
            <a:avLst>
              <a:gd name="adj" fmla="val 14545"/>
            </a:avLst>
          </a:prstGeom>
          <a:solidFill>
            <a:srgbClr val="FFF7E6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55080" y="3867912"/>
            <a:ext cx="9601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T10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51560" y="507492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3B73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10 сценариев ТЗ покрыты автоматизированным jury gate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641080" y="1783080"/>
            <a:ext cx="2788920" cy="4251960"/>
          </a:xfrm>
          <a:prstGeom prst="roundRect">
            <a:avLst>
              <a:gd name="adj" fmla="val 3934"/>
            </a:avLst>
          </a:prstGeom>
          <a:solidFill>
            <a:srgbClr val="003B73"/>
          </a:solidFill>
          <a:ln w="12700">
            <a:solidFill>
              <a:srgbClr val="003B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0" y="224028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DEMO</a:t>
            </a:r>
            <a:endParaRPr lang="en-US" sz="2400" dirty="0"/>
          </a:p>
        </p:txBody>
      </p:sp>
      <p:pic>
        <p:nvPicPr>
          <p:cNvPr id="31" name="Image 0" descr="/home/vacuum/Desktop/tsifrovaya-ochered-novogo-pokoleniya/.worktrees/pitch-deck/docs/presentation/assets/crops/home_smar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2834640"/>
            <a:ext cx="2057400" cy="1508760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8915400" y="4434840"/>
            <a:ext cx="2240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ADCFC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DEMO / SMART ROUTE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8915400" y="498348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pointers-team.tech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315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5 указателей  ·  Цифровая очередь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7498080" y="651052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POSTCODE CHALLENGE 2026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МАСШТАБИРОВАНИЕ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61320" y="38404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011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749808"/>
            <a:ext cx="10698480" cy="0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93268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Пилот можно разворачивать без внешнего облака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5074920" cy="39776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1488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РОССИЙСКИЙ ТЕХНОЛОГИЧЕСКИЙ КОНТУР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097280" y="278892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63040" y="2761488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K3s / Traefik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355848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63040" y="3328416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PostgreSQL + Outbox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097280" y="3922776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63040" y="3895344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stateless backend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89704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63040" y="4462272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GitOps / rollback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17920" y="1828800"/>
            <a:ext cx="5212080" cy="3977640"/>
          </a:xfrm>
          <a:prstGeom prst="roundRect">
            <a:avLst>
              <a:gd name="adj" fmla="val 2759"/>
            </a:avLst>
          </a:prstGeom>
          <a:solidFill>
            <a:srgbClr val="EAF2FB"/>
          </a:solidFill>
          <a:ln w="12700">
            <a:solidFill>
              <a:srgbClr val="0E6B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14884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F59E0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АРХИТЕКТУРНОЕ ПРЕДЛОЖЕНИЕ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537960" y="27432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03B73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40 000+</a:t>
            </a:r>
            <a:endParaRPr lang="en-US" sz="3700" dirty="0"/>
          </a:p>
        </p:txBody>
      </p:sp>
      <p:sp>
        <p:nvSpPr>
          <p:cNvPr id="19" name="Text 17"/>
          <p:cNvSpPr/>
          <p:nvPr/>
        </p:nvSpPr>
        <p:spPr>
          <a:xfrm>
            <a:off x="6537960" y="34747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отделений как направление масштабирования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37960" y="42519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partitioning · capacity planning · наблюдаемость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315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5 указателей  ·  Цифровая очередь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498080" y="651052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POSTCODE CHALLENGE 2026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ФИНАЛ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61320" y="38404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012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749808"/>
            <a:ext cx="10698480" cy="0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93268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Очередь становится управляемым маршрутом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051560" y="1965960"/>
            <a:ext cx="9966960" cy="0"/>
          </a:xfrm>
          <a:prstGeom prst="line">
            <a:avLst/>
          </a:prstGeom>
          <a:noFill/>
          <a:ln w="25400">
            <a:solidFill>
              <a:srgbClr val="0E6BD6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69264" y="18836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291584" y="18836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13904" y="188366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36224" y="1883664"/>
            <a:ext cx="164592" cy="164592"/>
          </a:xfrm>
          <a:prstGeom prst="ellipse">
            <a:avLst/>
          </a:prstGeom>
          <a:solidFill>
            <a:srgbClr val="10B981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606040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9260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КЛИЕНТ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05840" y="33832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подходящее ОПС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и подтверждённый визит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4389120" y="2606040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9260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10B981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ОПЕРАТОР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663440" y="33832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следующий талон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без ручной сортировки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046720" y="2606040"/>
            <a:ext cx="3383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0" y="29260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СЕТЬ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321040" y="338328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единый контур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для пилота и роста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14400" y="5349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3B73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pointers-team.tech  ·  demo  ·  команда «5 указателей»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31520" y="6510528"/>
            <a:ext cx="4846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5 указателей  ·  Цифровая очередь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498080" y="651052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DEMO / DISCUSSION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BACKUP Q&amp;A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61320" y="38404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0B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749808"/>
            <a:ext cx="10698480" cy="0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93268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Опоздание и раннее прибытие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502920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0" y="1828800"/>
            <a:ext cx="5212080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1488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ARRIVAL POLICY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51560" y="274320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3B73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late → policy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B73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early → eligibility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B73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arrival → queue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537960" y="214884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ОТВЕТ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537960" y="274320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Статус визита и фактический check-in остаются разделены; правила можно обсуждать без скрытой магии в CallNext.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651052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BACKUP · НЕ ВХОДИТ В 7-МИНУТНЫЙ ТАЙМИНГ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BACKUP Q&amp;A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61320" y="38404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0B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749808"/>
            <a:ext cx="10698480" cy="0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93268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Smart Route: границы геомаршрута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649224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35240" y="1828800"/>
            <a:ext cx="379476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pic>
        <p:nvPicPr>
          <p:cNvPr id="8" name="Image 0" descr="/home/vacuum/Desktop/tsifrovaya-ochered-novogo-pokoleniya/.worktrees/pitch-deck/docs/presentation/assets/crops/home_smar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44968" y="1938528"/>
            <a:ext cx="3575304" cy="31272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781544" y="5129784"/>
            <a:ext cx="35021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HOME / SMART ROUTE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97280" y="288036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03B73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GPS / явная точка → Haversine → eligibility → travel + queue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1097280" y="39776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Ориентир выбора отделения, не дорожная навигация.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651052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BACKUP · НЕ ВХОДИТ В 7-МИНУТНЫЙ ТАЙМИНГ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BACKUP Q&amp;A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61320" y="38404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0B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749808"/>
            <a:ext cx="10698480" cy="0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93268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Почему модульный монолит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498348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172200" y="1828800"/>
            <a:ext cx="5257800" cy="3566160"/>
          </a:xfrm>
          <a:prstGeom prst="roundRect">
            <a:avLst>
              <a:gd name="adj" fmla="val 3077"/>
            </a:avLst>
          </a:prstGeom>
          <a:solidFill>
            <a:srgbClr val="EAF2FB"/>
          </a:solidFill>
          <a:ln w="12700">
            <a:solidFill>
              <a:srgbClr val="0E6B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194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СЕЙЧАС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51560" y="274320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3B73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Go backend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B73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модульный монолит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B73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+ PostgreSQL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92240" y="21945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ПОЗЖЕ, ЕСЛИ НУЖНО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492240" y="2743200"/>
            <a:ext cx="4206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3B73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Выделение модулей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B73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по нагрузке и границам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B73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ответственности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" y="651052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BACKUP · НЕ ВХОДИТ В 7-МИНУТНЫЙ ТАЙМИНГ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BACKUP Q&amp;A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61320" y="38404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0B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749808"/>
            <a:ext cx="10698480" cy="0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93268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Outbox: границы гарантии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1069848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971800"/>
            <a:ext cx="8869680" cy="0"/>
          </a:xfrm>
          <a:prstGeom prst="line">
            <a:avLst/>
          </a:prstGeom>
          <a:noFill/>
          <a:ln w="25400">
            <a:solidFill>
              <a:srgbClr val="0E6BD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197864" y="288950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54424" y="288950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10984" y="2889504"/>
            <a:ext cx="164592" cy="16459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67544" y="2889504"/>
            <a:ext cx="164592" cy="164592"/>
          </a:xfrm>
          <a:prstGeom prst="ellipse">
            <a:avLst/>
          </a:prstGeom>
          <a:solidFill>
            <a:srgbClr val="10B981"/>
          </a:solidFill>
          <a:ln w="19050">
            <a:solidFill>
              <a:srgbClr val="0E6BD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31012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DB transaction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03320" y="331012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outbox row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37960" y="331012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dispatcher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372600" y="3310128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provider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80160" y="425196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Гарантия = не потерять операционное событие при фиксации вызова; не гарантия доступности внешнего провайдера.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31520" y="651052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BACKUP · НЕ ВХОДИТ В 7-МИНУТНЫЙ ТАЙМИНГ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84048"/>
            <a:ext cx="8046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BACKUP Q&amp;A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561320" y="384048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0B / 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749808"/>
            <a:ext cx="10698480" cy="0"/>
          </a:xfrm>
          <a:prstGeom prst="line">
            <a:avLst/>
          </a:prstGeom>
          <a:noFill/>
          <a:ln w="12700">
            <a:solidFill>
              <a:srgbClr val="D8E3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932688"/>
            <a:ext cx="10698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0243E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GitOps rollback и масштабирование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502920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17920" y="1828800"/>
            <a:ext cx="5212080" cy="3566160"/>
          </a:xfrm>
          <a:prstGeom prst="roundRect">
            <a:avLst>
              <a:gd name="adj" fmla="val 3077"/>
            </a:avLst>
          </a:prstGeom>
          <a:solidFill>
            <a:srgbClr val="EAF2FB"/>
          </a:solidFill>
          <a:ln w="12700">
            <a:solidFill>
              <a:srgbClr val="0E6B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2194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ОПЕРАЦИИ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51560" y="292608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003B73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commit → sync → observe → rollback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37960" y="21945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E6BD6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НАПРАВЛЕНИЕ РОСТА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537960" y="283464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3B73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partitioning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B73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+ capacity planning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B73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+ наблюдаемость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" y="651052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Onest" pitchFamily="34" charset="0"/>
                <a:ea typeface="Onest" pitchFamily="34" charset="-122"/>
                <a:cs typeface="Onest" pitchFamily="34" charset="-120"/>
              </a:rPr>
              <a:t>BACKUP · НЕ ВХОДИТ В 7-МИНУТНЫЙ ТАЙМИНГ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One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nes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Почта России / PostCode Challenge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Цифровая очередь нового поколения</dc:title>
  <dc:subject>Pitch deck</dc:subject>
  <dc:creator>Pointers Team (5 указателей)</dc:creator>
  <cp:lastModifiedBy>Pointers Team (5 указателей)</cp:lastModifiedBy>
  <cp:revision>1</cp:revision>
  <dcterms:created xsi:type="dcterms:W3CDTF">2026-10-05T18:33:41Z</dcterms:created>
  <dcterms:modified xsi:type="dcterms:W3CDTF">2026-10-05T18:33:41Z</dcterms:modified>
</cp:coreProperties>
</file>