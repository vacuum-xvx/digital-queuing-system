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Мы команда «5 Указателей». Сегодня очередь на почте для клиента начинается только после того, как он уже пришёл в отделение. Мы сделали так, чтобы ещё до выхода из дома он понимал: куда идти и сколько займёт весь визит.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клиента несколько точек входа. Система должна сначала выбрать подходящее отделение, а затем честно провести человека через eligibility, запись или живую очередь и вызов.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проверяем eligibility, затем сортируем только допустимые варианты. Геопозиция может быть GPS или явной точкой. Расстояние — ориентир для выбора, не дорожная навигация.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Показываем не просто календарь: окно ограничено today…today + 14, бронь удерживается 15 минут, затем подтверждается OTP или одноразовой ссылкой. После подтверждения появляется scheduled visit и .ics.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Канонический порядок можно показать и проверить. При равенстве дедлайна источник имеет известный ранг, затем учитывается прибытие и стабильный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важна конкретная гарантия: конкурентный CallNext выбирает разные строки благодаря блокировке FOR NO KEY UPDATE OF t SKIP LOCKED. Idempotency-Key защищает повтор запроса; это не обещание отсутствия всех race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экрана показывают одну и ту же очередь с разных ролей: клиент, оператор и зал. Визуальная связка важнее длинного списка функций.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Outbox относится к операционным уведомлениям: событие фиксируется рядом со сменой статуса, а dispatcher повторяет доставку с backoff. Первичное confirmation-email отправляется фоновой горутиной с таймаутом и может потребовать resend — это отдельная граница.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— модульный монолит: единая доменная транзакция и простая эксплуатация. Внешний flow проходит через Cloudflare или host Nginx, затем Traefik/K3s и pods.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T1–T10 — coverage автоматизированного jury gate. Здесь не ставим статический PASS: актуальный результат зависит от свежего запуска. QR ведёт на demo asset или стенд.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Российский контур опирается на собственные узлы и stateless backend. 40 000+ отделений — не текущая метрика и не обещание, а архитектурное направление, которое потребует partitioning и отдельного capacity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Закрываем тремя outcomes и зовём в demo. Не обещаем магию: показываем прозрачный маршрут, объяснимую очередь и операционный контур.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запись опоздала, policy определяет дальнейший статус; раннее прибытие проходит через обычную проверку и доступные правила очереди.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Haversine — оценка расстояния по координатам и ориентиру скорости. Оценка основана на базовой геометрии; автомобильный трекинг с пробками не заявляется.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Единый backend упрощает доменные транзакции очереди и эксплуатацию пилота. Границы модулей оставляют направление для дальнейшего выделения сервисов, но распределённые сервисы не заявляются без необходимости.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Outbox гарантирует сохранение операционного события рядом с транзакцией. Доставка во внешний канал остаётся retryable; первичное confirmation-email — отдельная фоновая отправка с возможным resend.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ArgoCD/GitOps даёт воспроизводимое применение манифестов и путь rollback. Масштабирование на 40 000+ отделений — предложение: partitioning и capacity planning требуют отдельного нагрузочного тестирования.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vacuum/Desktop/tsifrovaya-ochered-novogo-pokoleniya/.worktrees/pitch-deck/docs/presentation/assets/slide-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02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Проблема решается маршрутом, а не талоном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051560" y="1874520"/>
            <a:ext cx="9966960" cy="0"/>
          </a:xfrm>
          <a:prstGeom prst="line">
            <a:avLst/>
          </a:prstGeom>
          <a:noFill/>
          <a:ln w="25400">
            <a:solidFill>
              <a:srgbClr val="0E6BD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69264" y="179222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1584" y="179222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13904" y="179222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36224" y="1792224"/>
            <a:ext cx="164592" cy="164592"/>
          </a:xfrm>
          <a:prstGeom prst="ellipse">
            <a:avLst/>
          </a:prstGeom>
          <a:solidFill>
            <a:srgbClr val="10B981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выбор отделения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eligibility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6948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запись / QR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0704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CallNext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8892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063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РАЗНЫЕ ИСТОЧНИКИ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" y="35204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Запись, QR и живая очередь требуют разных правил приоритета.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278892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063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5484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НЕПОДХОДЯЩЕЕ ОПС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17720" y="35204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Закрытое, перегруженное или неоказывающее услугу отделение нельзя сортировать вместе с подходящими.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278892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3063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НЕТ ЕДИНОЙ ИСТИНЫ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75320" y="35204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Клиент, оператор и зал должны видеть один статус и следующий шаг.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5 указателей  ·  Цифровая очередь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9808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POSTCODE CHALLENGE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SMART ROUTE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03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Smart Route отбрасывает неподходящие отделения до сортировки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48920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pic>
        <p:nvPicPr>
          <p:cNvPr id="7" name="Image 0" descr="/home/vacuum/Desktop/tsifrovaya-ochered-novogo-pokoleniya/.worktrees/pitch-deck/docs/presentation/assets/crops/branch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47088"/>
            <a:ext cx="4672584" cy="3813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5724144"/>
            <a:ext cx="4599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BRANCH MAP / ELIGIBILITY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89320" y="1737360"/>
            <a:ext cx="544068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2057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ПОРЯДОК РЕШЕНИЯ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309360" y="2514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GPS или явная точка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09360" y="32278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0" y="3227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eligibility: услуга, часы, доступность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09360" y="39410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0" y="3941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сортировка по travel + queue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09360" y="4754880"/>
            <a:ext cx="457200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4983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Haversine при 5 км/ч — ориентир, не дорожная навигация.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15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5 указателей  ·  Цифровая очередь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49808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POSTCODE CHALLENGE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BOOKING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04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Запись превращается в подтверждённый визит за 15 минут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886200" cy="438912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pic>
        <p:nvPicPr>
          <p:cNvPr id="7" name="Image 0" descr="/home/vacuum/Desktop/tsifrovaya-ochered-novogo-pokoleniya/.worktrees/pitch-deck/docs/presentation/assets/crops/booking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01368"/>
            <a:ext cx="3666744" cy="3950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5815584"/>
            <a:ext cx="3593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CALENDAR / TODAY…TODAY + 14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800600" y="1691640"/>
            <a:ext cx="3246120" cy="4389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pic>
        <p:nvPicPr>
          <p:cNvPr id="10" name="Image 1" descr="/home/vacuum/Desktop/tsifrovaya-ochered-novogo-pokoleniya/.worktrees/pitch-deck/docs/presentation/assets/crops/otp_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801368"/>
            <a:ext cx="3026664" cy="39502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46904" y="5815584"/>
            <a:ext cx="2953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6-DIGIT OTP / ONE-TIME LINK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8275320" y="1691640"/>
            <a:ext cx="3154680" cy="4389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549640" y="2011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СТАТУС ВИЗИТА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8549640" y="2468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PENDING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CONFIRMATION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732520" y="3657600"/>
            <a:ext cx="1920240" cy="0"/>
          </a:xfrm>
          <a:prstGeom prst="line">
            <a:avLst/>
          </a:prstGeom>
          <a:noFill/>
          <a:ln w="25400">
            <a:solidFill>
              <a:srgbClr val="0E6BD6"/>
            </a:solidFill>
            <a:prstDash val="solid"/>
            <a:headEnd type="none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8650224" y="357530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570464" y="3575304"/>
            <a:ext cx="164592" cy="164592"/>
          </a:xfrm>
          <a:prstGeom prst="ellipse">
            <a:avLst/>
          </a:prstGeom>
          <a:solidFill>
            <a:srgbClr val="10B981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54964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SCHEDULED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549640" y="4617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15 минут удержания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+ подтверждение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+ .ics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15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5 указателей  ·  Цифровая очередь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749808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POSTCODE CHALLENGE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CALLNEXT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05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CallNext всегда объясним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653796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57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КАНОНИЧЕСКИЙ ПОРЯДОК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1560" y="2560320"/>
            <a:ext cx="5715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due_at ASC,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effective_source_rank ASC,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checkin_at ASC, id ASC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42519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Сначала дедлайн обслуживания → затем источник → прибытие → стабильный идентификатор.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43800" y="1737360"/>
            <a:ext cx="3886200" cy="425196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2057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РАНГИ ИСТОЧНИКОВ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955280" y="26974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81635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0" y="2788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Appointment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55280" y="3483864"/>
            <a:ext cx="457200" cy="457200"/>
          </a:xfrm>
          <a:prstGeom prst="ellipse">
            <a:avLst/>
          </a:prstGeom>
          <a:solidFill>
            <a:srgbClr val="0E6BD6"/>
          </a:solidFill>
          <a:ln w="12700">
            <a:solidFill>
              <a:srgbClr val="0E6B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3602736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35753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QR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55280" y="42702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438912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0" y="43616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5 указателей  ·  Цифровая очередь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9808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POSTCODE CHALLENGE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CONCURRENCY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06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Anti-starvation и защита от блокировок при конкурентном вызове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0698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48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ДВА ОПЕРАТОРА · ОДИН ПОТОК ОЖИДАНИЯ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3063240"/>
            <a:ext cx="9052560" cy="0"/>
          </a:xfrm>
          <a:prstGeom prst="line">
            <a:avLst/>
          </a:prstGeom>
          <a:noFill/>
          <a:ln w="25400">
            <a:solidFill>
              <a:srgbClr val="0E6BD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06424" y="298094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69564" y="298094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32704" y="298094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95844" y="298094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58984" y="2980944"/>
            <a:ext cx="164592" cy="164592"/>
          </a:xfrm>
          <a:prstGeom prst="ellipse">
            <a:avLst/>
          </a:prstGeom>
          <a:solidFill>
            <a:srgbClr val="10B981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64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WAITING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3364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3364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69480" y="3364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18320" y="3364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CALLED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NO KEY UPDATE OF t SKIP LOCKED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4434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Конкурентный CallNext не ждёт занятую строку и назначает один талон одному оператору.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6640" y="384048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4114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Idempotency-Key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5 указателей  ·  Цифровая очередь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9808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POSTCODE CHALLENGE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ИНТЕРФЕЙСЫ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07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Клиент видит следующий шаг, оператор — следующее действие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429000" cy="43891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pic>
        <p:nvPicPr>
          <p:cNvPr id="7" name="Image 0" descr="/home/vacuum/Desktop/tsifrovaya-ochered-novogo-pokoleniya/.worktrees/pitch-deck/docs/presentation/assets/crops/smart_route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01368"/>
            <a:ext cx="3209544" cy="3950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5815584"/>
            <a:ext cx="3136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КЛИЕНТ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429000" cy="43891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pic>
        <p:nvPicPr>
          <p:cNvPr id="10" name="Image 1" descr="/home/vacuum/Desktop/tsifrovaya-ochered-novogo-pokoleniya/.worktrees/pitch-deck/docs/presentation/assets/crops/my_ticket_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801368"/>
            <a:ext cx="3209544" cy="39502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5424" y="5815584"/>
            <a:ext cx="3136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ОПЕРАТОР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8046720" y="1691640"/>
            <a:ext cx="3383280" cy="43891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pic>
        <p:nvPicPr>
          <p:cNvPr id="13" name="Image 2" descr="/home/vacuum/Desktop/tsifrovaya-ochered-novogo-pokoleniya/.worktrees/pitch-deck/docs/presentation/assets/crops/tv_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1801368"/>
            <a:ext cx="3163824" cy="39502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93024" y="5815584"/>
            <a:ext cx="3090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ЗАЛ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315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5 указателей  ·  Цифровая очередь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749808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POSTCODE CHALLENGE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OUTBOX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08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Сбой канала не откатывает вызов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01752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ТРАНЗАКЦИЯ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CALL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+ статус талона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+ outbox event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4434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одна фиксация в PostgreSQL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77640" y="3063240"/>
            <a:ext cx="3474720" cy="0"/>
          </a:xfrm>
          <a:prstGeom prst="line">
            <a:avLst/>
          </a:prstGeom>
          <a:noFill/>
          <a:ln w="25400">
            <a:solidFill>
              <a:srgbClr val="0E6BD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95344" y="298094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32704" y="298094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70064" y="2980944"/>
            <a:ext cx="164592" cy="164592"/>
          </a:xfrm>
          <a:prstGeom prst="ellipse">
            <a:avLst/>
          </a:prstGeom>
          <a:solidFill>
            <a:srgbClr val="10B981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outbox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retry / backoff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канал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18120" y="1828800"/>
            <a:ext cx="36118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148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ОГОВОРКА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38160" y="274320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Первичное confirmation-email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фоновой горутиной с таймаутом; при сбое может потребоваться resend.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38160" y="46634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Outbox = операционные уведомления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5 указателей  ·  Цифровая очередь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9808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POSTCODE CHALLENGE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АРХИТЕКТУРА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09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Один контур для клиента, ОПС и контроля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EAF2FB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6974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Cloudflare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host Nginx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2468880"/>
            <a:ext cx="1554480" cy="777240"/>
          </a:xfrm>
          <a:prstGeom prst="roundRect">
            <a:avLst>
              <a:gd name="adj" fmla="val 14118"/>
            </a:avLst>
          </a:prstGeom>
          <a:solidFill>
            <a:srgbClr val="EAF2FB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269748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Traefik / K3s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2103120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frontend pod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24612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3474720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backend pod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модульный монолит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1874520"/>
            <a:ext cx="1508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210312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3246120"/>
            <a:ext cx="1508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9792" y="347472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Outbox / Events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92640" y="256032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EAF2FB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65792" y="2788920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2852928"/>
            <a:ext cx="365760" cy="0"/>
          </a:xfrm>
          <a:prstGeom prst="line">
            <a:avLst/>
          </a:prstGeom>
          <a:noFill/>
          <a:ln w="19050">
            <a:solidFill>
              <a:srgbClr val="0E6BD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297680" y="2852928"/>
            <a:ext cx="320040" cy="0"/>
          </a:xfrm>
          <a:prstGeom prst="line">
            <a:avLst/>
          </a:prstGeom>
          <a:noFill/>
          <a:ln w="19050">
            <a:solidFill>
              <a:srgbClr val="0E6BD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72200" y="2258568"/>
            <a:ext cx="1234440" cy="0"/>
          </a:xfrm>
          <a:prstGeom prst="line">
            <a:avLst/>
          </a:prstGeom>
          <a:noFill/>
          <a:ln w="19050">
            <a:solidFill>
              <a:srgbClr val="0E6BD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72200" y="3630168"/>
            <a:ext cx="1234440" cy="0"/>
          </a:xfrm>
          <a:prstGeom prst="line">
            <a:avLst/>
          </a:prstGeom>
          <a:noFill/>
          <a:ln w="19050">
            <a:solidFill>
              <a:srgbClr val="0E6BD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06840" y="2258568"/>
            <a:ext cx="640080" cy="0"/>
          </a:xfrm>
          <a:prstGeom prst="line">
            <a:avLst/>
          </a:prstGeom>
          <a:noFill/>
          <a:ln w="19050">
            <a:solidFill>
              <a:srgbClr val="0E6BD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06840" y="3630168"/>
            <a:ext cx="640080" cy="0"/>
          </a:xfrm>
          <a:prstGeom prst="line">
            <a:avLst/>
          </a:prstGeom>
          <a:noFill/>
          <a:ln w="19050">
            <a:solidFill>
              <a:srgbClr val="0E6BD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14400" y="48920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React 19  ·  Go  ·  PostgreSQL 17  ·  K3s / Traefik / ArgoCD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5 указателей  ·  Цифровая очередь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49808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POSTCODE CHALLENGE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ПИЛОТ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Пилот проверяется десятью сценариями ТЗ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749808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COVERAGE MAP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51560" y="269748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EAF2FB"/>
          </a:solidFill>
          <a:ln w="12700">
            <a:solidFill>
              <a:srgbClr val="0E6B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86207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69748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EAF2FB"/>
          </a:solidFill>
          <a:ln w="12700">
            <a:solidFill>
              <a:srgbClr val="0E6B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86207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03320" y="269748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EAF2FB"/>
          </a:solidFill>
          <a:ln w="12700">
            <a:solidFill>
              <a:srgbClr val="0E6B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86207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269748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EAF2FB"/>
          </a:solidFill>
          <a:ln w="12700">
            <a:solidFill>
              <a:srgbClr val="0E6B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86207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269748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EAF2FB"/>
          </a:solidFill>
          <a:ln w="12700">
            <a:solidFill>
              <a:srgbClr val="0E6B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86207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51560" y="370332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EAF2FB"/>
          </a:solidFill>
          <a:ln w="12700">
            <a:solidFill>
              <a:srgbClr val="0E6B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86791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377440" y="370332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EAF2FB"/>
          </a:solidFill>
          <a:ln w="12700">
            <a:solidFill>
              <a:srgbClr val="0E6B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386791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03320" y="370332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86791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0" y="370332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86791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T9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370332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86791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T10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5074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10 сценариев ТЗ покрыты автоматизированным jury gate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641080" y="1783080"/>
            <a:ext cx="2788920" cy="425196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ДЕМО-СТЕНД</a:t>
            </a:r>
            <a:endParaRPr lang="en-US" sz="1300" dirty="0"/>
          </a:p>
        </p:txBody>
      </p:sp>
      <p:pic>
        <p:nvPicPr>
          <p:cNvPr id="31" name="Image 0" descr="/home/vacuum/Desktop/tsifrovaya-ochered-novogo-pokoleniya/.worktrees/pitch-deck/docs/presentation/assets/crops/demo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423160"/>
            <a:ext cx="2057400" cy="20574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778240" y="46451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Отсканируйте QR для перехода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778240" y="5029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pointers-team.tech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315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5 указателей  ·  Цифровая очередь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49808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POSTCODE CHALLENGE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МАСШТАБИРОВАНИЕ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Пилот можно разворачивать без внешнего облака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48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РОССИЙСКИЙ ТЕХНОЛОГИЧЕСКИЙ КОНТУР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" y="27889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7614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K3s / Traefik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35584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33284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PostgreSQL + Outbox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92277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38953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stateless backend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897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44622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GitOps / rollback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5212080" cy="3977640"/>
          </a:xfrm>
          <a:prstGeom prst="roundRect">
            <a:avLst>
              <a:gd name="adj" fmla="val 2759"/>
            </a:avLst>
          </a:prstGeom>
          <a:solidFill>
            <a:srgbClr val="EAF2FB"/>
          </a:solidFill>
          <a:ln w="12700">
            <a:solidFill>
              <a:srgbClr val="0E6B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148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АРХИТЕКТУРНОЕ ПРЕДЛОЖЕНИЕ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37960" y="2743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40 000+</a:t>
            </a:r>
            <a:endParaRPr lang="en-US" sz="3700" dirty="0"/>
          </a:p>
        </p:txBody>
      </p:sp>
      <p:sp>
        <p:nvSpPr>
          <p:cNvPr id="19" name="Text 17"/>
          <p:cNvSpPr/>
          <p:nvPr/>
        </p:nvSpPr>
        <p:spPr>
          <a:xfrm>
            <a:off x="6537960" y="3474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отделений как направление масштабирования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4251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partitioning · capacity planning · наблюдаемость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5 указателей  ·  Цифровая очередь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9808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POSTCODE CHALLENGE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ФИНАЛ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12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Очередь становится управляемым маршрутом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051560" y="1874520"/>
            <a:ext cx="9966960" cy="0"/>
          </a:xfrm>
          <a:prstGeom prst="line">
            <a:avLst/>
          </a:prstGeom>
          <a:noFill/>
          <a:ln w="25400">
            <a:solidFill>
              <a:srgbClr val="0E6BD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69264" y="179222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1584" y="179222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13904" y="179222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36224" y="1792224"/>
            <a:ext cx="164592" cy="164592"/>
          </a:xfrm>
          <a:prstGeom prst="ellipse">
            <a:avLst/>
          </a:prstGeom>
          <a:solidFill>
            <a:srgbClr val="10B981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42316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97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КЛИЕНТ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05840" y="3154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подходящее ОПС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и подтверждённый визит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9120" y="242316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697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10B981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ОПЕРАТОР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3154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следующий талон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без ручной сортировки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46720" y="242316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697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СЕТЬ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321040" y="3154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единый контур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для пилота и роста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892040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ДЕМОНСТРАЦИОННЫЕ СТЕНДЫ И ПРОВЕРКА РЕШЕНИЯ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521208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Основной стенд: https://pointers-team.tech/    ·    Резервный стенд: https://post-queue.duckdns.org/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5623560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Команда «5 указателей»  ·  Go + PostgreSQL + React  ·  PostCode Challenge 2026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5 указателей  ·  Цифровая очередь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9808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DEMO /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BACKUP Q&amp;A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BACKUP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Опоздание и раннее прибытие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0292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828800"/>
            <a:ext cx="521208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ARRIVAL POLICY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2743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late → policy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early → eligibility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arrival → queue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37960" y="2148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ОТВЕТ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Статус визита и фактический check-in остаются разделены; правила можно обсуждать без скрытой магии в CallNext.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BACKUP · НЕ ВХОДИТ В 7-МИНУТНЫЙ ТАЙМИНГ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BACKUP Q&amp;A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BACKUP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Smart Route: границы геомаршрута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6492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35240" y="1828800"/>
            <a:ext cx="37947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pic>
        <p:nvPicPr>
          <p:cNvPr id="8" name="Image 0" descr="/home/vacuum/Desktop/tsifrovaya-ochered-novogo-pokoleniya/.worktrees/pitch-deck/docs/presentation/assets/crops/home_smart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1938528"/>
            <a:ext cx="3575304" cy="3127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81544" y="5129784"/>
            <a:ext cx="3502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HOME / SMART ROUTE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97280" y="28803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GPS / явная точка → Haversine → eligibility → travel + queue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97280" y="3977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Ориентир выбора отделения, а не автомобильный трекинг с пробками.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BACKUP · НЕ ВХОДИТ В 7-МИНУТНЫЙ ТАЙМИНГ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BACKUP Q&amp;A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BACKUP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Почему модульный монолит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49834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82880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EAF2FB"/>
          </a:solidFill>
          <a:ln w="12700">
            <a:solidFill>
              <a:srgbClr val="0E6B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94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СЕЙЧАС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2743200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Go backend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модульный монолит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+ PostgreSQL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ПОЗЖЕ, ЕСЛИ НУЖНО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Выделение модулей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 нагрузке и границам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ответственности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BACKUP · НЕ ВХОДИТ В 7-МИНУТНЫЙ ТАЙМИНГ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BACKUP Q&amp;A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BACKUP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Outbox: границы гарантии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06984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971800"/>
            <a:ext cx="8869680" cy="0"/>
          </a:xfrm>
          <a:prstGeom prst="line">
            <a:avLst/>
          </a:prstGeom>
          <a:noFill/>
          <a:ln w="25400">
            <a:solidFill>
              <a:srgbClr val="0E6BD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197864" y="288950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54424" y="288950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10984" y="288950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67544" y="2889504"/>
            <a:ext cx="164592" cy="164592"/>
          </a:xfrm>
          <a:prstGeom prst="ellipse">
            <a:avLst/>
          </a:prstGeom>
          <a:solidFill>
            <a:srgbClr val="10B981"/>
          </a:solidFill>
          <a:ln w="19050">
            <a:solidFill>
              <a:srgbClr val="0E6B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101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DB transaction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33101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outbox row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33101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dispatcher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72600" y="33101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provider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425196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Гарантия = не потерять операционное событие при фиксации вызова; не гарантия доступности внешнего провайдера.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BACKUP · НЕ ВХОДИТ В 7-МИНУТНЫЙ ТАЙМИНГ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74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BACKUP Q&amp;A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3749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BACKUP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1069848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GitOps rollback и масштабирование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82880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EAF2FB"/>
          </a:solidFill>
          <a:ln w="12700">
            <a:solidFill>
              <a:srgbClr val="0E6B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94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ОПЕРАЦИИ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29260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commit → sync → observe → rollback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37960" y="2194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6B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НАПРАВЛЕНИЕ РОСТА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37960" y="2834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partitioning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+ capacity planning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3B7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+ наблюдаемость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BACKUP · НЕ ВХОДИТ В 7-МИНУТНЫЙ ТАЙМИНГ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ne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ne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Почта России / PostCode Challenge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Цифровая очередь нового поколения</dc:title>
  <dc:subject>Pitch deck</dc:subject>
  <dc:creator>Pointers Team (5 указателей)</dc:creator>
  <cp:lastModifiedBy>Pointers Team (5 указателей)</cp:lastModifiedBy>
  <cp:revision>1</cp:revision>
  <dcterms:created xsi:type="dcterms:W3CDTF">2026-10-05T18:48:32Z</dcterms:created>
  <dcterms:modified xsi:type="dcterms:W3CDTF">2026-10-05T18:48:32Z</dcterms:modified>
</cp:coreProperties>
</file>