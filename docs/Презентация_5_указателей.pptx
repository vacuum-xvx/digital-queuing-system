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Golos" panose="020B0503020202020204" pitchFamily="34" charset="0"/>
      <p:regular r:id="rId11"/>
      <p:bold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44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44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47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5.xml.rels><?xml version="1.0" ?>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46" Type="http://schemas.openxmlformats.org/officeDocument/2006/relationships/image" Target="../media/screenshot_slide5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5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51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53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7.xml.rels><?xml version="1.0" ?>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54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51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55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47" Type="http://schemas.openxmlformats.org/officeDocument/2006/relationships/image" Target="../media/screenshot_slide7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57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56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361950"/>
            <a:ext cx="3757613" cy="272415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28625" y="36195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625" y="47625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76400" y="36195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28269" y="616577"/>
            <a:ext cx="15679" cy="2257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46143" y="607483"/>
            <a:ext cx="16306" cy="3888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64331" y="616577"/>
            <a:ext cx="15365" cy="2257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705877" y="616577"/>
            <a:ext cx="15993" cy="22578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41938" y="616577"/>
            <a:ext cx="15365" cy="2257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85180" y="370730"/>
            <a:ext cx="515526" cy="515526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878682" y="588551"/>
            <a:ext cx="24623" cy="15979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873359" y="599612"/>
            <a:ext cx="23871" cy="11079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901183" y="584015"/>
            <a:ext cx="9399" cy="10095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926951" y="672394"/>
            <a:ext cx="11916" cy="14425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962072" y="673022"/>
            <a:ext cx="10035" cy="13484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26951" y="648876"/>
            <a:ext cx="11916" cy="17625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944825" y="67270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45138" y="650757"/>
            <a:ext cx="10975" cy="1605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964953" y="619353"/>
            <a:ext cx="19320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926010" y="628807"/>
            <a:ext cx="15679" cy="5017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870846" y="714849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2002089" y="736780"/>
            <a:ext cx="51611" cy="10049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1930137" y="725097"/>
            <a:ext cx="46661" cy="9229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774237" y="459787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914408" y="607797"/>
            <a:ext cx="11602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926951" y="604348"/>
            <a:ext cx="15679" cy="5644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925069" y="607797"/>
            <a:ext cx="15365" cy="5331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1718106" y="674903"/>
            <a:ext cx="60521" cy="59267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747583" y="727585"/>
            <a:ext cx="64911" cy="64598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1794933" y="771172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1858783" y="805965"/>
            <a:ext cx="52923" cy="49575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1926323" y="815387"/>
            <a:ext cx="45156" cy="47978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1986297" y="803852"/>
            <a:ext cx="51894" cy="49724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/>
          <a:stretch/>
        </p:blipFill>
        <p:spPr>
          <a:xfrm>
            <a:off x="2040467" y="768350"/>
            <a:ext cx="58639" cy="66165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2080919" y="723508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2119195" y="67490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1714657" y="527520"/>
            <a:ext cx="50843" cy="58012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1737548" y="478288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1776119" y="434074"/>
            <a:ext cx="64911" cy="65225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1827232" y="411587"/>
            <a:ext cx="54406" cy="55412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1881795" y="393935"/>
            <a:ext cx="46410" cy="53622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1933222" y="392994"/>
            <a:ext cx="43588" cy="47664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1982283" y="402482"/>
            <a:ext cx="50031" cy="49265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/>
          <a:stretch/>
        </p:blipFill>
        <p:spPr>
          <a:xfrm>
            <a:off x="2024160" y="416199"/>
            <a:ext cx="63343" cy="63970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2075274" y="449439"/>
            <a:ext cx="53309" cy="52995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2096598" y="491459"/>
            <a:ext cx="59580" cy="56758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2121371" y="534419"/>
            <a:ext cx="53622" cy="43274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428625" y="1371600"/>
            <a:ext cx="3757613" cy="1714500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428625" y="1371600"/>
            <a:ext cx="375761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22"/>
              </a:lnSpc>
              <a:buNone/>
            </a:pPr>
            <a:r>
              <a:rPr lang="en-US" sz="5914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PostCode</a:t>
            </a:r>
            <a:r>
              <a:rPr lang="en-US" sz="4952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 Challenge</a:t>
            </a:r>
            <a:endParaRPr lang="en-US" sz="5914" dirty="0"/>
          </a:p>
        </p:txBody>
      </p:sp>
      <p:sp>
        <p:nvSpPr>
          <p:cNvPr id="51" name="Text 5"/>
          <p:cNvSpPr/>
          <p:nvPr/>
        </p:nvSpPr>
        <p:spPr>
          <a:xfrm>
            <a:off x="428625" y="2733675"/>
            <a:ext cx="375761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76"/>
              </a:lnSpc>
              <a:buNone/>
            </a:pPr>
            <a:r>
              <a:rPr lang="en-US" sz="3776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от </a:t>
            </a:r>
            <a:r>
              <a:rPr lang="en-US" sz="3776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Почтатеха</a:t>
            </a:r>
            <a:endParaRPr lang="en-US" sz="3776" dirty="0"/>
          </a:p>
        </p:txBody>
      </p:sp>
      <p:pic>
        <p:nvPicPr>
          <p:cNvPr id="52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4333875" y="1238250"/>
            <a:ext cx="4695825" cy="3509963"/>
          </a:xfrm>
          <a:prstGeom prst="rect">
            <a:avLst/>
          </a:prstGeom>
        </p:spPr>
      </p:pic>
      <p:sp>
        <p:nvSpPr>
          <p:cNvPr id="53" name="Shape 6"/>
          <p:cNvSpPr/>
          <p:nvPr/>
        </p:nvSpPr>
        <p:spPr>
          <a:xfrm>
            <a:off x="428625" y="3381375"/>
            <a:ext cx="3943350" cy="1143000"/>
          </a:xfrm>
          <a:prstGeom prst="roundRect">
            <a:avLst>
              <a:gd name="adj" fmla="val 64000"/>
            </a:avLst>
          </a:prstGeom>
          <a:solidFill>
            <a:srgbClr val="2942BB">
              <a:alpha val="40000"/>
            </a:srgbClr>
          </a:solidFill>
          <a:ln w="4524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4" name="Text 7"/>
          <p:cNvSpPr/>
          <p:nvPr/>
        </p:nvSpPr>
        <p:spPr>
          <a:xfrm>
            <a:off x="714375" y="3667125"/>
            <a:ext cx="42978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636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5 указателей</a:t>
            </a:r>
            <a:endParaRPr lang="en-US" sz="2636" dirty="0"/>
          </a:p>
        </p:txBody>
      </p:sp>
      <p:sp>
        <p:nvSpPr>
          <p:cNvPr id="55" name="Text 8"/>
          <p:cNvSpPr/>
          <p:nvPr/>
        </p:nvSpPr>
        <p:spPr>
          <a:xfrm>
            <a:off x="714375" y="3950000"/>
            <a:ext cx="429789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2116"/>
              </a:lnSpc>
              <a:buNone/>
            </a:pPr>
            <a:r>
              <a:rPr lang="en-US" sz="1400" dirty="0">
                <a:solidFill>
                  <a:srgbClr val="ECEDF2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Цифровая очередь нового поколения</a:t>
            </a:r>
            <a:endParaRPr lang="en-US" sz="192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33375"/>
            <a:ext cx="2005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Участники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7"/>
            <a:ext cx="15679" cy="2257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7"/>
            <a:ext cx="15365" cy="2257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7"/>
            <a:ext cx="15993" cy="22578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7"/>
            <a:ext cx="15365" cy="2257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1"/>
            <a:ext cx="24623" cy="15979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17059" y="428162"/>
            <a:ext cx="23871" cy="11079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5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 r="10"/>
          <a:stretch/>
        </p:blipFill>
        <p:spPr>
          <a:xfrm>
            <a:off x="8705772" y="501572"/>
            <a:ext cx="10034" cy="13484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 r="-5"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7"/>
            <a:ext cx="15679" cy="5017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745789" y="565330"/>
            <a:ext cx="51612" cy="10049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8673837" y="553647"/>
            <a:ext cx="46661" cy="9229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7"/>
            <a:ext cx="15679" cy="5644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461806" y="503453"/>
            <a:ext cx="60521" cy="59267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 b="2"/>
          <a:stretch/>
        </p:blipFill>
        <p:spPr>
          <a:xfrm>
            <a:off x="8491283" y="556135"/>
            <a:ext cx="64911" cy="64597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 r="-2"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 r="2" b="2"/>
          <a:stretch/>
        </p:blipFill>
        <p:spPr>
          <a:xfrm>
            <a:off x="8670023" y="643937"/>
            <a:ext cx="45155" cy="47977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729997" y="632402"/>
            <a:ext cx="51895" cy="49724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/>
          <a:stretch/>
        </p:blipFill>
        <p:spPr>
          <a:xfrm>
            <a:off x="8784166" y="596900"/>
            <a:ext cx="58639" cy="66165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8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0"/>
            <a:ext cx="50843" cy="58012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19818" y="262624"/>
            <a:ext cx="64911" cy="65225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 r="-2"/>
          <a:stretch/>
        </p:blipFill>
        <p:spPr>
          <a:xfrm>
            <a:off x="8570932" y="240137"/>
            <a:ext cx="54407" cy="55412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5"/>
            <a:ext cx="46410" cy="53622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5"/>
            <a:ext cx="43588" cy="47664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2"/>
            <a:ext cx="50031" cy="49265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50"/>
            <a:ext cx="63343" cy="63971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 r="2"/>
          <a:stretch/>
        </p:blipFill>
        <p:spPr>
          <a:xfrm>
            <a:off x="8818974" y="277989"/>
            <a:ext cx="53308" cy="52995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190500" y="1200150"/>
            <a:ext cx="8763000" cy="2447925"/>
          </a:xfrm>
          <a:prstGeom prst="rect">
            <a:avLst/>
          </a:prstGeom>
          <a:noFill/>
          <a:ln/>
        </p:spPr>
      </p:sp>
      <p:sp>
        <p:nvSpPr>
          <p:cNvPr id="50" name="Shape 4"/>
          <p:cNvSpPr/>
          <p:nvPr/>
        </p:nvSpPr>
        <p:spPr>
          <a:xfrm>
            <a:off x="190500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51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1200150"/>
            <a:ext cx="2047875" cy="2047875"/>
          </a:xfrm>
          <a:prstGeom prst="rect">
            <a:avLst/>
          </a:prstGeom>
        </p:spPr>
      </p:pic>
      <p:sp>
        <p:nvSpPr>
          <p:cNvPr id="52" name="Shape 5"/>
          <p:cNvSpPr/>
          <p:nvPr/>
        </p:nvSpPr>
        <p:spPr>
          <a:xfrm>
            <a:off x="190500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53" name="Text 6"/>
          <p:cNvSpPr/>
          <p:nvPr/>
        </p:nvSpPr>
        <p:spPr>
          <a:xfrm>
            <a:off x="190500" y="334327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Карина Б.</a:t>
            </a:r>
            <a:endParaRPr lang="en-US" sz="1425" dirty="0"/>
          </a:p>
        </p:txBody>
      </p:sp>
      <p:sp>
        <p:nvSpPr>
          <p:cNvPr id="54" name="Text 7"/>
          <p:cNvSpPr/>
          <p:nvPr/>
        </p:nvSpPr>
        <p:spPr>
          <a:xfrm>
            <a:off x="190500" y="355282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Тимлид / Менеджер</a:t>
            </a:r>
            <a:endParaRPr lang="en-US" sz="998" dirty="0"/>
          </a:p>
        </p:txBody>
      </p:sp>
      <p:sp>
        <p:nvSpPr>
          <p:cNvPr id="55" name="Shape 8"/>
          <p:cNvSpPr/>
          <p:nvPr/>
        </p:nvSpPr>
        <p:spPr>
          <a:xfrm>
            <a:off x="2428875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56" name="Image 45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2428875" y="1200150"/>
            <a:ext cx="2047875" cy="2047875"/>
          </a:xfrm>
          <a:prstGeom prst="rect">
            <a:avLst/>
          </a:prstGeom>
        </p:spPr>
      </p:pic>
      <p:sp>
        <p:nvSpPr>
          <p:cNvPr id="57" name="Shape 9"/>
          <p:cNvSpPr/>
          <p:nvPr/>
        </p:nvSpPr>
        <p:spPr>
          <a:xfrm>
            <a:off x="2428875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58" name="Text 10"/>
          <p:cNvSpPr/>
          <p:nvPr/>
        </p:nvSpPr>
        <p:spPr>
          <a:xfrm>
            <a:off x="2428875" y="334327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Вадим П.</a:t>
            </a:r>
            <a:endParaRPr lang="en-US" sz="1425" dirty="0"/>
          </a:p>
        </p:txBody>
      </p:sp>
      <p:sp>
        <p:nvSpPr>
          <p:cNvPr id="59" name="Text 11"/>
          <p:cNvSpPr/>
          <p:nvPr/>
        </p:nvSpPr>
        <p:spPr>
          <a:xfrm>
            <a:off x="2428875" y="355282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Backend-разработчик</a:t>
            </a:r>
            <a:endParaRPr lang="en-US" sz="998" dirty="0"/>
          </a:p>
        </p:txBody>
      </p:sp>
      <p:sp>
        <p:nvSpPr>
          <p:cNvPr id="60" name="Shape 12"/>
          <p:cNvSpPr/>
          <p:nvPr/>
        </p:nvSpPr>
        <p:spPr>
          <a:xfrm>
            <a:off x="4667250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61" name="Image 46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4667250" y="1200150"/>
            <a:ext cx="2047875" cy="2047875"/>
          </a:xfrm>
          <a:prstGeom prst="rect">
            <a:avLst/>
          </a:prstGeom>
        </p:spPr>
      </p:pic>
      <p:sp>
        <p:nvSpPr>
          <p:cNvPr id="62" name="Shape 13"/>
          <p:cNvSpPr/>
          <p:nvPr/>
        </p:nvSpPr>
        <p:spPr>
          <a:xfrm>
            <a:off x="4667250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63" name="Text 14"/>
          <p:cNvSpPr/>
          <p:nvPr/>
        </p:nvSpPr>
        <p:spPr>
          <a:xfrm>
            <a:off x="4667250" y="334327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Дмитрий К.</a:t>
            </a:r>
            <a:endParaRPr lang="en-US" sz="1425" dirty="0"/>
          </a:p>
        </p:txBody>
      </p:sp>
      <p:sp>
        <p:nvSpPr>
          <p:cNvPr id="64" name="Text 15"/>
          <p:cNvSpPr/>
          <p:nvPr/>
        </p:nvSpPr>
        <p:spPr>
          <a:xfrm>
            <a:off x="4667250" y="355282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Frontend-разработчик</a:t>
            </a:r>
            <a:endParaRPr lang="en-US" sz="998" dirty="0"/>
          </a:p>
        </p:txBody>
      </p:sp>
      <p:sp>
        <p:nvSpPr>
          <p:cNvPr id="65" name="Shape 16"/>
          <p:cNvSpPr/>
          <p:nvPr/>
        </p:nvSpPr>
        <p:spPr>
          <a:xfrm>
            <a:off x="6905625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66" name="Image 47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6905625" y="1200150"/>
            <a:ext cx="2047875" cy="2047875"/>
          </a:xfrm>
          <a:prstGeom prst="rect">
            <a:avLst/>
          </a:prstGeom>
        </p:spPr>
      </p:pic>
      <p:sp>
        <p:nvSpPr>
          <p:cNvPr id="67" name="Shape 17"/>
          <p:cNvSpPr/>
          <p:nvPr/>
        </p:nvSpPr>
        <p:spPr>
          <a:xfrm>
            <a:off x="6905625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68" name="Text 18"/>
          <p:cNvSpPr/>
          <p:nvPr/>
        </p:nvSpPr>
        <p:spPr>
          <a:xfrm>
            <a:off x="6905625" y="334327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Алексей С.</a:t>
            </a:r>
            <a:endParaRPr lang="en-US" sz="1425" dirty="0"/>
          </a:p>
        </p:txBody>
      </p:sp>
      <p:sp>
        <p:nvSpPr>
          <p:cNvPr id="69" name="Text 19"/>
          <p:cNvSpPr/>
          <p:nvPr/>
        </p:nvSpPr>
        <p:spPr>
          <a:xfrm>
            <a:off x="6905625" y="355282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DevOps / Инфраструктура</a:t>
            </a:r>
            <a:endParaRPr lang="en-US" sz="998" dirty="0"/>
          </a:p>
        </p:txBody>
      </p:sp>
      <p:pic>
        <p:nvPicPr>
          <p:cNvPr id="70" name="Image 48" descr="preencoded.png"/>
          <p:cNvPicPr>
            <a:picLocks noChangeAspect="1"/>
          </p:cNvPicPr>
          <p:nvPr/>
        </p:nvPicPr>
        <p:blipFill>
          <a:blip r:embed="rId46"/>
          <a:srcRect b="3341"/>
          <a:stretch/>
        </p:blipFill>
        <p:spPr>
          <a:xfrm>
            <a:off x="6905625" y="3076575"/>
            <a:ext cx="2138363" cy="2066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33375"/>
            <a:ext cx="1985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Возможности системы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190500" y="1309688"/>
            <a:ext cx="8763000" cy="3724275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190500" y="1309688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150018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Клиентский портал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81000" y="1766888"/>
            <a:ext cx="2270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Запись онлайн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QR-код на входе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Отслеживание очереди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3175000" y="1309688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365500" y="150018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ТВ-табло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365500" y="1766888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Живая очередь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6159500" y="1309688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350000" y="150018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Терминал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350000" y="1766888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Талон за 2 клика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190500" y="2614613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81000" y="2805113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Оператор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381000" y="3071813"/>
            <a:ext cx="2270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Вызов, перенос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Статусы клиентов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Простой интерфейс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3175000" y="2614613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365500" y="2805113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Администратор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3365500" y="3071813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KPI и метрики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6159500" y="2614613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0000" y="2805113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Политики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6350000" y="3071813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Гибкие приоритеты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190500" y="3919537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81000" y="411003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Умный CallNext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381000" y="4376738"/>
            <a:ext cx="2270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Рейтинг + ETA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Справедливая очередь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Авто-балансировка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3175000" y="3919537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365500" y="411003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Уведомления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3365500" y="4376738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SSE + Outbox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6159500" y="3919537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350000" y="411003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QR-стенды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6350000" y="4376738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A4-постер для печати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3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9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6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28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29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1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2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33375"/>
            <a:ext cx="1985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Алгоритмы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9"/>
            <a:ext cx="15679" cy="2257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4"/>
            <a:ext cx="16306" cy="3888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9"/>
            <a:ext cx="15365" cy="2257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9"/>
            <a:ext cx="15993" cy="22578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9"/>
            <a:ext cx="15365" cy="2257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1"/>
            <a:ext cx="515526" cy="515527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 b="6"/>
          <a:stretch/>
        </p:blipFill>
        <p:spPr>
          <a:xfrm>
            <a:off x="8622382" y="417103"/>
            <a:ext cx="24623" cy="15978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 b="-18"/>
          <a:stretch/>
        </p:blipFill>
        <p:spPr>
          <a:xfrm>
            <a:off x="8617059" y="428163"/>
            <a:ext cx="23871" cy="11081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5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6"/>
            <a:ext cx="11916" cy="14425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 r="10" b="7"/>
          <a:stretch/>
        </p:blipFill>
        <p:spPr>
          <a:xfrm>
            <a:off x="8705772" y="501572"/>
            <a:ext cx="10034" cy="13483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7"/>
            <a:ext cx="11916" cy="17625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8"/>
            <a:ext cx="10975" cy="1605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4"/>
            <a:ext cx="19321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8"/>
            <a:ext cx="15679" cy="5018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 b="-11"/>
          <a:stretch/>
        </p:blipFill>
        <p:spPr>
          <a:xfrm>
            <a:off x="8673837" y="553647"/>
            <a:ext cx="46661" cy="9230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8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8"/>
            <a:ext cx="11603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9"/>
            <a:ext cx="15679" cy="5644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8668770" y="436348"/>
            <a:ext cx="15365" cy="5330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491283" y="556136"/>
            <a:ext cx="64911" cy="64598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4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8602483" y="634515"/>
            <a:ext cx="52924" cy="49576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 r="2"/>
          <a:stretch/>
        </p:blipFill>
        <p:spPr>
          <a:xfrm>
            <a:off x="8670023" y="643937"/>
            <a:ext cx="45155" cy="47978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8729997" y="632403"/>
            <a:ext cx="51895" cy="49725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 b="-2"/>
          <a:stretch/>
        </p:blipFill>
        <p:spPr>
          <a:xfrm>
            <a:off x="8784166" y="596901"/>
            <a:ext cx="58639" cy="66166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9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1"/>
            <a:ext cx="50843" cy="58013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9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8519818" y="262624"/>
            <a:ext cx="64911" cy="65224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6"/>
            <a:ext cx="46410" cy="53622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5"/>
            <a:ext cx="43588" cy="47665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 b="2"/>
          <a:stretch/>
        </p:blipFill>
        <p:spPr>
          <a:xfrm>
            <a:off x="8725982" y="231032"/>
            <a:ext cx="50031" cy="49264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50"/>
            <a:ext cx="63343" cy="63971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 r="2" b="2"/>
          <a:stretch/>
        </p:blipFill>
        <p:spPr>
          <a:xfrm>
            <a:off x="8818974" y="277990"/>
            <a:ext cx="53308" cy="52994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 b="2"/>
          <a:stretch/>
        </p:blipFill>
        <p:spPr>
          <a:xfrm>
            <a:off x="8840298" y="320008"/>
            <a:ext cx="59580" cy="56757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71"/>
            <a:ext cx="53622" cy="43274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190500" y="1047750"/>
            <a:ext cx="8763000" cy="3905250"/>
          </a:xfrm>
          <a:prstGeom prst="rect">
            <a:avLst/>
          </a:prstGeom>
          <a:noFill/>
          <a:ln/>
        </p:spPr>
      </p:sp>
      <p:sp>
        <p:nvSpPr>
          <p:cNvPr id="50" name="Shape 4"/>
          <p:cNvSpPr/>
          <p:nvPr/>
        </p:nvSpPr>
        <p:spPr>
          <a:xfrm>
            <a:off x="190500" y="1047750"/>
            <a:ext cx="4095750" cy="914400"/>
          </a:xfrm>
          <a:prstGeom prst="rect">
            <a:avLst/>
          </a:prstGeom>
          <a:noFill/>
          <a:ln/>
        </p:spPr>
      </p:sp>
      <p:sp>
        <p:nvSpPr>
          <p:cNvPr id="51" name="Text 5"/>
          <p:cNvSpPr/>
          <p:nvPr/>
        </p:nvSpPr>
        <p:spPr>
          <a:xfrm>
            <a:off x="190500" y="1047750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Ранжирование</a:t>
            </a:r>
            <a:endParaRPr lang="en-US" sz="1140" dirty="0"/>
          </a:p>
        </p:txBody>
      </p:sp>
      <p:sp>
        <p:nvSpPr>
          <p:cNvPr id="52" name="Text 6"/>
          <p:cNvSpPr/>
          <p:nvPr/>
        </p:nvSpPr>
        <p:spPr>
          <a:xfrm>
            <a:off x="190500" y="1247775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Source Rank</a:t>
            </a:r>
            <a:endParaRPr lang="en-US" sz="1639" dirty="0"/>
          </a:p>
        </p:txBody>
      </p:sp>
      <p:sp>
        <p:nvSpPr>
          <p:cNvPr id="53" name="Text 7"/>
          <p:cNvSpPr/>
          <p:nvPr/>
        </p:nvSpPr>
        <p:spPr>
          <a:xfrm>
            <a:off x="190500" y="1495425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Формула приоритета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W_src × source_rank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+ W_wait × wait_norm</a:t>
            </a:r>
            <a:endParaRPr lang="en-US" sz="1140" dirty="0"/>
          </a:p>
        </p:txBody>
      </p:sp>
      <p:sp>
        <p:nvSpPr>
          <p:cNvPr id="54" name="Shape 8"/>
          <p:cNvSpPr/>
          <p:nvPr/>
        </p:nvSpPr>
        <p:spPr>
          <a:xfrm>
            <a:off x="4667250" y="1047750"/>
            <a:ext cx="4095750" cy="914400"/>
          </a:xfrm>
          <a:prstGeom prst="rect">
            <a:avLst/>
          </a:prstGeom>
          <a:noFill/>
          <a:ln/>
        </p:spPr>
      </p:sp>
      <p:sp>
        <p:nvSpPr>
          <p:cNvPr id="55" name="Text 9"/>
          <p:cNvSpPr/>
          <p:nvPr/>
        </p:nvSpPr>
        <p:spPr>
          <a:xfrm>
            <a:off x="4667250" y="1047750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CallNext</a:t>
            </a:r>
            <a:endParaRPr lang="en-US" sz="1140" dirty="0"/>
          </a:p>
        </p:txBody>
      </p:sp>
      <p:sp>
        <p:nvSpPr>
          <p:cNvPr id="56" name="Text 10"/>
          <p:cNvSpPr/>
          <p:nvPr/>
        </p:nvSpPr>
        <p:spPr>
          <a:xfrm>
            <a:off x="4667250" y="1247775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Умный вызов</a:t>
            </a:r>
            <a:endParaRPr lang="en-US" sz="1639" dirty="0"/>
          </a:p>
        </p:txBody>
      </p:sp>
      <p:sp>
        <p:nvSpPr>
          <p:cNvPr id="57" name="Text 11"/>
          <p:cNvSpPr/>
          <p:nvPr/>
        </p:nvSpPr>
        <p:spPr>
          <a:xfrm>
            <a:off x="4667250" y="1495425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Учитывает due_at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Политики окон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Авто-переназначение</a:t>
            </a:r>
            <a:endParaRPr lang="en-US" sz="1140" dirty="0"/>
          </a:p>
        </p:txBody>
      </p:sp>
      <p:sp>
        <p:nvSpPr>
          <p:cNvPr id="58" name="Shape 12"/>
          <p:cNvSpPr/>
          <p:nvPr/>
        </p:nvSpPr>
        <p:spPr>
          <a:xfrm>
            <a:off x="190500" y="2295525"/>
            <a:ext cx="4095750" cy="914400"/>
          </a:xfrm>
          <a:prstGeom prst="rect">
            <a:avLst/>
          </a:prstGeom>
          <a:noFill/>
          <a:ln/>
        </p:spPr>
      </p:sp>
      <p:sp>
        <p:nvSpPr>
          <p:cNvPr id="59" name="Text 13"/>
          <p:cNvSpPr/>
          <p:nvPr/>
        </p:nvSpPr>
        <p:spPr>
          <a:xfrm>
            <a:off x="190500" y="2295525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ETA</a:t>
            </a:r>
            <a:endParaRPr lang="en-US" sz="1140" dirty="0"/>
          </a:p>
        </p:txBody>
      </p:sp>
      <p:sp>
        <p:nvSpPr>
          <p:cNvPr id="60" name="Text 14"/>
          <p:cNvSpPr/>
          <p:nvPr/>
        </p:nvSpPr>
        <p:spPr>
          <a:xfrm>
            <a:off x="190500" y="2495550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Прогноз ожидания</a:t>
            </a:r>
            <a:endParaRPr lang="en-US" sz="1639" dirty="0"/>
          </a:p>
        </p:txBody>
      </p:sp>
      <p:sp>
        <p:nvSpPr>
          <p:cNvPr id="61" name="Text 15"/>
          <p:cNvSpPr/>
          <p:nvPr/>
        </p:nvSpPr>
        <p:spPr>
          <a:xfrm>
            <a:off x="190500" y="2743200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EMA сглаживание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pos × avg_service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Точность ±2 мин</a:t>
            </a:r>
            <a:endParaRPr lang="en-US" sz="1140" dirty="0"/>
          </a:p>
        </p:txBody>
      </p:sp>
      <p:sp>
        <p:nvSpPr>
          <p:cNvPr id="62" name="Shape 16"/>
          <p:cNvSpPr/>
          <p:nvPr/>
        </p:nvSpPr>
        <p:spPr>
          <a:xfrm>
            <a:off x="4667250" y="2295525"/>
            <a:ext cx="4095750" cy="914400"/>
          </a:xfrm>
          <a:prstGeom prst="rect">
            <a:avLst/>
          </a:prstGeom>
          <a:noFill/>
          <a:ln/>
        </p:spPr>
      </p:sp>
      <p:sp>
        <p:nvSpPr>
          <p:cNvPr id="63" name="Text 17"/>
          <p:cNvSpPr/>
          <p:nvPr/>
        </p:nvSpPr>
        <p:spPr>
          <a:xfrm>
            <a:off x="4667250" y="2295525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Outbox</a:t>
            </a:r>
            <a:endParaRPr lang="en-US" sz="1140" dirty="0"/>
          </a:p>
        </p:txBody>
      </p:sp>
      <p:sp>
        <p:nvSpPr>
          <p:cNvPr id="64" name="Text 18"/>
          <p:cNvSpPr/>
          <p:nvPr/>
        </p:nvSpPr>
        <p:spPr>
          <a:xfrm>
            <a:off x="4667250" y="2495550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Надёжная доставка</a:t>
            </a:r>
            <a:endParaRPr lang="en-US" sz="1639" dirty="0"/>
          </a:p>
        </p:txBody>
      </p:sp>
      <p:sp>
        <p:nvSpPr>
          <p:cNvPr id="65" name="Text 19"/>
          <p:cNvSpPr/>
          <p:nvPr/>
        </p:nvSpPr>
        <p:spPr>
          <a:xfrm>
            <a:off x="4667250" y="2743200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Транзакционный паттерн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Polling publisher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At-least-once</a:t>
            </a:r>
            <a:endParaRPr lang="en-US" sz="1140" dirty="0"/>
          </a:p>
        </p:txBody>
      </p:sp>
      <p:sp>
        <p:nvSpPr>
          <p:cNvPr id="66" name="Shape 20"/>
          <p:cNvSpPr/>
          <p:nvPr/>
        </p:nvSpPr>
        <p:spPr>
          <a:xfrm>
            <a:off x="190500" y="3543300"/>
            <a:ext cx="4095750" cy="914400"/>
          </a:xfrm>
          <a:prstGeom prst="rect">
            <a:avLst/>
          </a:prstGeom>
          <a:noFill/>
          <a:ln/>
        </p:spPr>
      </p:sp>
      <p:sp>
        <p:nvSpPr>
          <p:cNvPr id="67" name="Text 21"/>
          <p:cNvSpPr/>
          <p:nvPr/>
        </p:nvSpPr>
        <p:spPr>
          <a:xfrm>
            <a:off x="190500" y="3543300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SSE</a:t>
            </a:r>
            <a:endParaRPr lang="en-US" sz="1140" dirty="0"/>
          </a:p>
        </p:txBody>
      </p:sp>
      <p:sp>
        <p:nvSpPr>
          <p:cNvPr id="68" name="Text 22"/>
          <p:cNvSpPr/>
          <p:nvPr/>
        </p:nvSpPr>
        <p:spPr>
          <a:xfrm>
            <a:off x="190500" y="3743325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Реалтайм</a:t>
            </a:r>
            <a:endParaRPr lang="en-US" sz="1639" dirty="0"/>
          </a:p>
        </p:txBody>
      </p:sp>
      <p:sp>
        <p:nvSpPr>
          <p:cNvPr id="69" name="Text 23"/>
          <p:cNvSpPr/>
          <p:nvPr/>
        </p:nvSpPr>
        <p:spPr>
          <a:xfrm>
            <a:off x="190500" y="3990975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Server-Sent Events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Подписка по branch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Авто-реконнект</a:t>
            </a:r>
            <a:endParaRPr lang="en-US" sz="1140" dirty="0"/>
          </a:p>
        </p:txBody>
      </p:sp>
      <p:pic>
        <p:nvPicPr>
          <p:cNvPr id="70" name="Image 44" descr="preencoded.png"/>
          <p:cNvPicPr>
            <a:picLocks noChangeAspect="1"/>
          </p:cNvPicPr>
          <p:nvPr/>
        </p:nvPicPr>
        <p:blipFill>
          <a:blip r:embed="rId45"/>
          <a:srcRect b="2649"/>
          <a:stretch/>
        </p:blipFill>
        <p:spPr>
          <a:xfrm>
            <a:off x="5676900" y="3043238"/>
            <a:ext cx="2952750" cy="2100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9"/>
            <a:ext cx="15679" cy="2257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4"/>
            <a:ext cx="16306" cy="3888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9"/>
            <a:ext cx="15365" cy="22578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9"/>
            <a:ext cx="15993" cy="22578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9"/>
            <a:ext cx="15365" cy="22578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1"/>
            <a:ext cx="515526" cy="51552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 b="6"/>
          <a:stretch/>
        </p:blipFill>
        <p:spPr>
          <a:xfrm>
            <a:off x="8622382" y="417103"/>
            <a:ext cx="24623" cy="15978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 b="-18"/>
          <a:stretch/>
        </p:blipFill>
        <p:spPr>
          <a:xfrm>
            <a:off x="8617059" y="428163"/>
            <a:ext cx="23871" cy="11081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5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6"/>
            <a:ext cx="11916" cy="14425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rcRect r="10" b="7"/>
          <a:stretch/>
        </p:blipFill>
        <p:spPr>
          <a:xfrm>
            <a:off x="8705772" y="501572"/>
            <a:ext cx="10034" cy="13483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7"/>
            <a:ext cx="11916" cy="17625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8"/>
            <a:ext cx="10975" cy="16057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4"/>
            <a:ext cx="19321" cy="5739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8"/>
            <a:ext cx="15679" cy="5018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9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23" name="Image 19" descr="preencoded.png"/>
          <p:cNvPicPr>
            <a:picLocks noChangeAspect="1"/>
          </p:cNvPicPr>
          <p:nvPr/>
        </p:nvPicPr>
        <p:blipFill>
          <a:blip r:embed="rId20"/>
          <a:srcRect r="2" b="-11"/>
          <a:stretch/>
        </p:blipFill>
        <p:spPr>
          <a:xfrm>
            <a:off x="8673837" y="553647"/>
            <a:ext cx="46661" cy="9230"/>
          </a:xfrm>
          <a:prstGeom prst="rect">
            <a:avLst/>
          </a:prstGeom>
        </p:spPr>
      </p:pic>
      <p:pic>
        <p:nvPicPr>
          <p:cNvPr id="24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8"/>
            <a:ext cx="337412" cy="337412"/>
          </a:xfrm>
          <a:prstGeom prst="rect">
            <a:avLst/>
          </a:prstGeom>
        </p:spPr>
      </p:pic>
      <p:pic>
        <p:nvPicPr>
          <p:cNvPr id="25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8"/>
            <a:ext cx="11603" cy="8153"/>
          </a:xfrm>
          <a:prstGeom prst="rect">
            <a:avLst/>
          </a:prstGeom>
        </p:spPr>
      </p:pic>
      <p:pic>
        <p:nvPicPr>
          <p:cNvPr id="26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9"/>
            <a:ext cx="15679" cy="5644"/>
          </a:xfrm>
          <a:prstGeom prst="rect">
            <a:avLst/>
          </a:prstGeom>
        </p:spPr>
      </p:pic>
      <p:pic>
        <p:nvPicPr>
          <p:cNvPr id="27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8668770" y="436348"/>
            <a:ext cx="15365" cy="5330"/>
          </a:xfrm>
          <a:prstGeom prst="rect">
            <a:avLst/>
          </a:prstGeom>
        </p:spPr>
      </p:pic>
      <p:pic>
        <p:nvPicPr>
          <p:cNvPr id="28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29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491283" y="556136"/>
            <a:ext cx="64911" cy="64598"/>
          </a:xfrm>
          <a:prstGeom prst="rect">
            <a:avLst/>
          </a:prstGeom>
        </p:spPr>
      </p:pic>
      <p:pic>
        <p:nvPicPr>
          <p:cNvPr id="30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4"/>
            <a:ext cx="63971" cy="64284"/>
          </a:xfrm>
          <a:prstGeom prst="rect">
            <a:avLst/>
          </a:prstGeom>
        </p:spPr>
      </p:pic>
      <p:pic>
        <p:nvPicPr>
          <p:cNvPr id="31" name="Image 27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8602483" y="634515"/>
            <a:ext cx="52924" cy="49576"/>
          </a:xfrm>
          <a:prstGeom prst="rect">
            <a:avLst/>
          </a:prstGeom>
        </p:spPr>
      </p:pic>
      <p:pic>
        <p:nvPicPr>
          <p:cNvPr id="32" name="Image 28" descr="preencoded.png"/>
          <p:cNvPicPr>
            <a:picLocks noChangeAspect="1"/>
          </p:cNvPicPr>
          <p:nvPr/>
        </p:nvPicPr>
        <p:blipFill>
          <a:blip r:embed="rId29"/>
          <a:srcRect r="2"/>
          <a:stretch/>
        </p:blipFill>
        <p:spPr>
          <a:xfrm>
            <a:off x="8670023" y="643937"/>
            <a:ext cx="45155" cy="47978"/>
          </a:xfrm>
          <a:prstGeom prst="rect">
            <a:avLst/>
          </a:prstGeom>
        </p:spPr>
      </p:pic>
      <p:pic>
        <p:nvPicPr>
          <p:cNvPr id="33" name="Image 29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8729997" y="632403"/>
            <a:ext cx="51895" cy="49725"/>
          </a:xfrm>
          <a:prstGeom prst="rect">
            <a:avLst/>
          </a:prstGeom>
        </p:spPr>
      </p:pic>
      <p:pic>
        <p:nvPicPr>
          <p:cNvPr id="34" name="Image 30" descr="preencoded.png"/>
          <p:cNvPicPr>
            <a:picLocks noChangeAspect="1"/>
          </p:cNvPicPr>
          <p:nvPr/>
        </p:nvPicPr>
        <p:blipFill>
          <a:blip r:embed="rId31"/>
          <a:srcRect r="2" b="-2"/>
          <a:stretch/>
        </p:blipFill>
        <p:spPr>
          <a:xfrm>
            <a:off x="8784166" y="596901"/>
            <a:ext cx="58639" cy="66166"/>
          </a:xfrm>
          <a:prstGeom prst="rect">
            <a:avLst/>
          </a:prstGeom>
        </p:spPr>
      </p:pic>
      <p:pic>
        <p:nvPicPr>
          <p:cNvPr id="35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9"/>
            <a:ext cx="64911" cy="64284"/>
          </a:xfrm>
          <a:prstGeom prst="rect">
            <a:avLst/>
          </a:prstGeom>
        </p:spPr>
      </p:pic>
      <p:pic>
        <p:nvPicPr>
          <p:cNvPr id="36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7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1"/>
            <a:ext cx="50843" cy="58013"/>
          </a:xfrm>
          <a:prstGeom prst="rect">
            <a:avLst/>
          </a:prstGeom>
        </p:spPr>
      </p:pic>
      <p:pic>
        <p:nvPicPr>
          <p:cNvPr id="38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9"/>
            <a:ext cx="64284" cy="63657"/>
          </a:xfrm>
          <a:prstGeom prst="rect">
            <a:avLst/>
          </a:prstGeom>
        </p:spPr>
      </p:pic>
      <p:pic>
        <p:nvPicPr>
          <p:cNvPr id="39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8519818" y="262624"/>
            <a:ext cx="64911" cy="65224"/>
          </a:xfrm>
          <a:prstGeom prst="rect">
            <a:avLst/>
          </a:prstGeom>
        </p:spPr>
      </p:pic>
      <p:pic>
        <p:nvPicPr>
          <p:cNvPr id="40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41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6"/>
            <a:ext cx="46410" cy="53622"/>
          </a:xfrm>
          <a:prstGeom prst="rect">
            <a:avLst/>
          </a:prstGeom>
        </p:spPr>
      </p:pic>
      <p:pic>
        <p:nvPicPr>
          <p:cNvPr id="42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5"/>
            <a:ext cx="43588" cy="47665"/>
          </a:xfrm>
          <a:prstGeom prst="rect">
            <a:avLst/>
          </a:prstGeom>
        </p:spPr>
      </p:pic>
      <p:pic>
        <p:nvPicPr>
          <p:cNvPr id="43" name="Image 39" descr="preencoded.png"/>
          <p:cNvPicPr>
            <a:picLocks noChangeAspect="1"/>
          </p:cNvPicPr>
          <p:nvPr/>
        </p:nvPicPr>
        <p:blipFill>
          <a:blip r:embed="rId40"/>
          <a:srcRect b="2"/>
          <a:stretch/>
        </p:blipFill>
        <p:spPr>
          <a:xfrm>
            <a:off x="8725982" y="231032"/>
            <a:ext cx="50031" cy="49264"/>
          </a:xfrm>
          <a:prstGeom prst="rect">
            <a:avLst/>
          </a:prstGeom>
        </p:spPr>
      </p:pic>
      <p:pic>
        <p:nvPicPr>
          <p:cNvPr id="44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50"/>
            <a:ext cx="63343" cy="63971"/>
          </a:xfrm>
          <a:prstGeom prst="rect">
            <a:avLst/>
          </a:prstGeom>
        </p:spPr>
      </p:pic>
      <p:pic>
        <p:nvPicPr>
          <p:cNvPr id="45" name="Image 41" descr="preencoded.png"/>
          <p:cNvPicPr>
            <a:picLocks noChangeAspect="1"/>
          </p:cNvPicPr>
          <p:nvPr/>
        </p:nvPicPr>
        <p:blipFill>
          <a:blip r:embed="rId42"/>
          <a:srcRect r="2" b="2"/>
          <a:stretch/>
        </p:blipFill>
        <p:spPr>
          <a:xfrm>
            <a:off x="8818974" y="277990"/>
            <a:ext cx="53308" cy="52994"/>
          </a:xfrm>
          <a:prstGeom prst="rect">
            <a:avLst/>
          </a:prstGeom>
        </p:spPr>
      </p:pic>
      <p:pic>
        <p:nvPicPr>
          <p:cNvPr id="46" name="Image 42" descr="preencoded.png"/>
          <p:cNvPicPr>
            <a:picLocks noChangeAspect="1"/>
          </p:cNvPicPr>
          <p:nvPr/>
        </p:nvPicPr>
        <p:blipFill>
          <a:blip r:embed="rId43"/>
          <a:srcRect b="2"/>
          <a:stretch/>
        </p:blipFill>
        <p:spPr>
          <a:xfrm>
            <a:off x="8840298" y="320008"/>
            <a:ext cx="59580" cy="56757"/>
          </a:xfrm>
          <a:prstGeom prst="rect">
            <a:avLst/>
          </a:prstGeom>
        </p:spPr>
      </p:pic>
      <p:pic>
        <p:nvPicPr>
          <p:cNvPr id="47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71"/>
            <a:ext cx="53622" cy="43274"/>
          </a:xfrm>
          <a:prstGeom prst="rect">
            <a:avLst/>
          </a:prstGeom>
        </p:spPr>
      </p:pic>
      <p:sp>
        <p:nvSpPr>
          <p:cNvPr id="48" name="Shape 2"/>
          <p:cNvSpPr/>
          <p:nvPr/>
        </p:nvSpPr>
        <p:spPr>
          <a:xfrm>
            <a:off x="190500" y="333375"/>
            <a:ext cx="8763000" cy="2571750"/>
          </a:xfrm>
          <a:prstGeom prst="rect">
            <a:avLst/>
          </a:prstGeom>
          <a:noFill/>
          <a:ln/>
        </p:spPr>
      </p:sp>
      <p:sp>
        <p:nvSpPr>
          <p:cNvPr id="49" name="Shape 3"/>
          <p:cNvSpPr/>
          <p:nvPr/>
        </p:nvSpPr>
        <p:spPr>
          <a:xfrm>
            <a:off x="190500" y="333375"/>
            <a:ext cx="4948238" cy="466725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190500" y="333375"/>
            <a:ext cx="18288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Архитектура</a:t>
            </a:r>
            <a:endParaRPr lang="en-US" sz="1140" dirty="0"/>
          </a:p>
        </p:txBody>
      </p:sp>
      <p:sp>
        <p:nvSpPr>
          <p:cNvPr id="51" name="Text 5"/>
          <p:cNvSpPr/>
          <p:nvPr/>
        </p:nvSpPr>
        <p:spPr>
          <a:xfrm>
            <a:off x="190500" y="533400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Цифровая очередь</a:t>
            </a:r>
            <a:endParaRPr lang="en-US" sz="2850" dirty="0"/>
          </a:p>
        </p:txBody>
      </p:sp>
      <p:sp>
        <p:nvSpPr>
          <p:cNvPr id="52" name="Shape 6"/>
          <p:cNvSpPr/>
          <p:nvPr/>
        </p:nvSpPr>
        <p:spPr>
          <a:xfrm>
            <a:off x="190500" y="1276350"/>
            <a:ext cx="8763000" cy="1628775"/>
          </a:xfrm>
          <a:prstGeom prst="rect">
            <a:avLst/>
          </a:prstGeom>
          <a:noFill/>
          <a:ln/>
        </p:spPr>
      </p:sp>
      <p:sp>
        <p:nvSpPr>
          <p:cNvPr id="53" name="Shape 7"/>
          <p:cNvSpPr/>
          <p:nvPr/>
        </p:nvSpPr>
        <p:spPr>
          <a:xfrm>
            <a:off x="190500" y="1276350"/>
            <a:ext cx="3676650" cy="1628775"/>
          </a:xfrm>
          <a:prstGeom prst="rect">
            <a:avLst/>
          </a:prstGeom>
          <a:noFill/>
          <a:ln/>
        </p:spPr>
      </p:sp>
      <p:sp>
        <p:nvSpPr>
          <p:cNvPr id="54" name="Shape 8"/>
          <p:cNvSpPr/>
          <p:nvPr/>
        </p:nvSpPr>
        <p:spPr>
          <a:xfrm>
            <a:off x="190500" y="1276350"/>
            <a:ext cx="3676650" cy="352425"/>
          </a:xfrm>
          <a:prstGeom prst="rect">
            <a:avLst/>
          </a:prstGeom>
          <a:noFill/>
          <a:ln/>
        </p:spPr>
      </p:sp>
      <p:sp>
        <p:nvSpPr>
          <p:cNvPr id="55" name="Text 9"/>
          <p:cNvSpPr/>
          <p:nvPr/>
        </p:nvSpPr>
        <p:spPr>
          <a:xfrm>
            <a:off x="190500" y="1276350"/>
            <a:ext cx="3676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Стек</a:t>
            </a:r>
            <a:endParaRPr lang="en-US" sz="1639" dirty="0"/>
          </a:p>
        </p:txBody>
      </p:sp>
      <p:sp>
        <p:nvSpPr>
          <p:cNvPr id="56" name="Text 10"/>
          <p:cNvSpPr/>
          <p:nvPr/>
        </p:nvSpPr>
        <p:spPr>
          <a:xfrm>
            <a:off x="190500" y="1524000"/>
            <a:ext cx="3676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Go + React + PostgreSQL + Docker</a:t>
            </a:r>
            <a:endParaRPr lang="en-US" sz="1140" dirty="0"/>
          </a:p>
        </p:txBody>
      </p:sp>
      <p:sp>
        <p:nvSpPr>
          <p:cNvPr id="57" name="Shape 11"/>
          <p:cNvSpPr/>
          <p:nvPr/>
        </p:nvSpPr>
        <p:spPr>
          <a:xfrm>
            <a:off x="190500" y="1914525"/>
            <a:ext cx="3676650" cy="352425"/>
          </a:xfrm>
          <a:prstGeom prst="rect">
            <a:avLst/>
          </a:prstGeom>
          <a:noFill/>
          <a:ln/>
        </p:spPr>
      </p:sp>
      <p:sp>
        <p:nvSpPr>
          <p:cNvPr id="58" name="Text 12"/>
          <p:cNvSpPr/>
          <p:nvPr/>
        </p:nvSpPr>
        <p:spPr>
          <a:xfrm>
            <a:off x="190500" y="1914525"/>
            <a:ext cx="3676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Интеграции</a:t>
            </a:r>
            <a:endParaRPr lang="en-US" sz="1639" dirty="0"/>
          </a:p>
        </p:txBody>
      </p:sp>
      <p:sp>
        <p:nvSpPr>
          <p:cNvPr id="59" name="Text 13"/>
          <p:cNvSpPr/>
          <p:nvPr/>
        </p:nvSpPr>
        <p:spPr>
          <a:xfrm>
            <a:off x="190500" y="2162175"/>
            <a:ext cx="3676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SSE, Outbox, Telegram-уведомления</a:t>
            </a:r>
            <a:endParaRPr lang="en-US" sz="1140" dirty="0"/>
          </a:p>
        </p:txBody>
      </p:sp>
      <p:sp>
        <p:nvSpPr>
          <p:cNvPr id="60" name="Shape 14"/>
          <p:cNvSpPr/>
          <p:nvPr/>
        </p:nvSpPr>
        <p:spPr>
          <a:xfrm>
            <a:off x="190500" y="2552700"/>
            <a:ext cx="3676650" cy="352425"/>
          </a:xfrm>
          <a:prstGeom prst="rect">
            <a:avLst/>
          </a:prstGeom>
          <a:noFill/>
          <a:ln/>
        </p:spPr>
      </p:sp>
      <p:sp>
        <p:nvSpPr>
          <p:cNvPr id="61" name="Text 15"/>
          <p:cNvSpPr/>
          <p:nvPr/>
        </p:nvSpPr>
        <p:spPr>
          <a:xfrm>
            <a:off x="190500" y="2552700"/>
            <a:ext cx="3676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Деплой</a:t>
            </a:r>
            <a:endParaRPr lang="en-US" sz="1639" dirty="0"/>
          </a:p>
        </p:txBody>
      </p:sp>
      <p:sp>
        <p:nvSpPr>
          <p:cNvPr id="62" name="Text 16"/>
          <p:cNvSpPr/>
          <p:nvPr/>
        </p:nvSpPr>
        <p:spPr>
          <a:xfrm>
            <a:off x="190500" y="2800350"/>
            <a:ext cx="3676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Docker Compose + Nginx + Let's Encrypt</a:t>
            </a:r>
            <a:endParaRPr lang="en-US" sz="1140" dirty="0"/>
          </a:p>
        </p:txBody>
      </p:sp>
      <p:pic>
        <p:nvPicPr>
          <p:cNvPr id="63" name="Image 44" descr="preencoded.png"/>
          <p:cNvPicPr>
            <a:picLocks noChangeAspect="1"/>
          </p:cNvPicPr>
          <p:nvPr/>
        </p:nvPicPr>
        <p:blipFill>
          <a:blip r:embed="rId45"/>
          <a:srcRect b="8917"/>
          <a:stretch/>
        </p:blipFill>
        <p:spPr>
          <a:xfrm>
            <a:off x="4657725" y="1057275"/>
            <a:ext cx="4486275" cy="4086225"/>
          </a:xfrm>
          <a:prstGeom prst="rect">
            <a:avLst/>
          </a:prstGeom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9995" name="Screenshot 5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754880" y="731520"/>
            <a:ext cx="4114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6"/>
            <a:ext cx="15679" cy="225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b="-5"/>
          <a:stretch/>
        </p:blipFill>
        <p:spPr>
          <a:xfrm>
            <a:off x="8889843" y="436034"/>
            <a:ext cx="16306" cy="38886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8908031" y="445126"/>
            <a:ext cx="15365" cy="2258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6"/>
            <a:ext cx="15993" cy="2258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8485638" y="445126"/>
            <a:ext cx="15365" cy="2258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1"/>
            <a:ext cx="515526" cy="51552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0"/>
            <a:ext cx="24623" cy="1598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 b="9"/>
          <a:stretch/>
        </p:blipFill>
        <p:spPr>
          <a:xfrm>
            <a:off x="8617059" y="428163"/>
            <a:ext cx="23871" cy="11078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/>
          <a:srcRect b="30"/>
          <a:stretch/>
        </p:blipFill>
        <p:spPr>
          <a:xfrm>
            <a:off x="8644883" y="412565"/>
            <a:ext cx="9399" cy="10092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 b="21"/>
          <a:stretch/>
        </p:blipFill>
        <p:spPr>
          <a:xfrm>
            <a:off x="8670651" y="500946"/>
            <a:ext cx="11916" cy="14422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rcRect r="10" b="7"/>
          <a:stretch/>
        </p:blipFill>
        <p:spPr>
          <a:xfrm>
            <a:off x="8705772" y="501574"/>
            <a:ext cx="10034" cy="13483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/>
          <a:srcRect b="11"/>
          <a:stretch/>
        </p:blipFill>
        <p:spPr>
          <a:xfrm>
            <a:off x="8670651" y="477427"/>
            <a:ext cx="11916" cy="17622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4"/>
          <a:srcRect b="12"/>
          <a:stretch/>
        </p:blipFill>
        <p:spPr>
          <a:xfrm>
            <a:off x="8688838" y="479310"/>
            <a:ext cx="10975" cy="16055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4"/>
            <a:ext cx="19321" cy="5739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8"/>
            <a:ext cx="15679" cy="5018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401"/>
            <a:ext cx="36762" cy="7590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745789" y="565330"/>
            <a:ext cx="51612" cy="10051"/>
          </a:xfrm>
          <a:prstGeom prst="rect">
            <a:avLst/>
          </a:prstGeom>
        </p:spPr>
      </p:pic>
      <p:pic>
        <p:nvPicPr>
          <p:cNvPr id="23" name="Image 19" descr="preencoded.png"/>
          <p:cNvPicPr>
            <a:picLocks noChangeAspect="1"/>
          </p:cNvPicPr>
          <p:nvPr/>
        </p:nvPicPr>
        <p:blipFill>
          <a:blip r:embed="rId20"/>
          <a:srcRect r="2" b="-33"/>
          <a:stretch/>
        </p:blipFill>
        <p:spPr>
          <a:xfrm>
            <a:off x="8673837" y="553647"/>
            <a:ext cx="46661" cy="9232"/>
          </a:xfrm>
          <a:prstGeom prst="rect">
            <a:avLst/>
          </a:prstGeom>
        </p:spPr>
      </p:pic>
      <p:pic>
        <p:nvPicPr>
          <p:cNvPr id="24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6"/>
            <a:ext cx="337412" cy="337412"/>
          </a:xfrm>
          <a:prstGeom prst="rect">
            <a:avLst/>
          </a:prstGeom>
        </p:spPr>
      </p:pic>
      <p:pic>
        <p:nvPicPr>
          <p:cNvPr id="25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5"/>
            <a:ext cx="11603" cy="8153"/>
          </a:xfrm>
          <a:prstGeom prst="rect">
            <a:avLst/>
          </a:prstGeom>
        </p:spPr>
      </p:pic>
      <p:pic>
        <p:nvPicPr>
          <p:cNvPr id="26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9"/>
            <a:ext cx="15679" cy="5646"/>
          </a:xfrm>
          <a:prstGeom prst="rect">
            <a:avLst/>
          </a:prstGeom>
        </p:spPr>
      </p:pic>
      <p:pic>
        <p:nvPicPr>
          <p:cNvPr id="27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8668770" y="436345"/>
            <a:ext cx="15365" cy="5330"/>
          </a:xfrm>
          <a:prstGeom prst="rect">
            <a:avLst/>
          </a:prstGeom>
        </p:spPr>
      </p:pic>
      <p:pic>
        <p:nvPicPr>
          <p:cNvPr id="28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29" name="Image 25" descr="preencoded.png"/>
          <p:cNvPicPr>
            <a:picLocks noChangeAspect="1"/>
          </p:cNvPicPr>
          <p:nvPr/>
        </p:nvPicPr>
        <p:blipFill>
          <a:blip r:embed="rId26"/>
          <a:srcRect b="3"/>
          <a:stretch/>
        </p:blipFill>
        <p:spPr>
          <a:xfrm>
            <a:off x="8491283" y="556133"/>
            <a:ext cx="64911" cy="64596"/>
          </a:xfrm>
          <a:prstGeom prst="rect">
            <a:avLst/>
          </a:prstGeom>
        </p:spPr>
      </p:pic>
      <p:pic>
        <p:nvPicPr>
          <p:cNvPr id="30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31" name="Image 27" descr="preencoded.png"/>
          <p:cNvPicPr>
            <a:picLocks noChangeAspect="1"/>
          </p:cNvPicPr>
          <p:nvPr/>
        </p:nvPicPr>
        <p:blipFill>
          <a:blip r:embed="rId28"/>
          <a:srcRect r="-2" b="2"/>
          <a:stretch/>
        </p:blipFill>
        <p:spPr>
          <a:xfrm>
            <a:off x="8602483" y="634515"/>
            <a:ext cx="52924" cy="49574"/>
          </a:xfrm>
          <a:prstGeom prst="rect">
            <a:avLst/>
          </a:prstGeom>
        </p:spPr>
      </p:pic>
      <p:pic>
        <p:nvPicPr>
          <p:cNvPr id="32" name="Image 28" descr="preencoded.png"/>
          <p:cNvPicPr>
            <a:picLocks noChangeAspect="1"/>
          </p:cNvPicPr>
          <p:nvPr/>
        </p:nvPicPr>
        <p:blipFill>
          <a:blip r:embed="rId29"/>
          <a:srcRect r="2"/>
          <a:stretch/>
        </p:blipFill>
        <p:spPr>
          <a:xfrm>
            <a:off x="8670023" y="643937"/>
            <a:ext cx="45155" cy="47978"/>
          </a:xfrm>
          <a:prstGeom prst="rect">
            <a:avLst/>
          </a:prstGeom>
        </p:spPr>
      </p:pic>
      <p:pic>
        <p:nvPicPr>
          <p:cNvPr id="33" name="Image 29" descr="preencoded.png"/>
          <p:cNvPicPr>
            <a:picLocks noChangeAspect="1"/>
          </p:cNvPicPr>
          <p:nvPr/>
        </p:nvPicPr>
        <p:blipFill>
          <a:blip r:embed="rId30"/>
          <a:srcRect r="-2" b="2"/>
          <a:stretch/>
        </p:blipFill>
        <p:spPr>
          <a:xfrm>
            <a:off x="8729997" y="632403"/>
            <a:ext cx="51895" cy="49723"/>
          </a:xfrm>
          <a:prstGeom prst="rect">
            <a:avLst/>
          </a:prstGeom>
        </p:spPr>
      </p:pic>
      <p:pic>
        <p:nvPicPr>
          <p:cNvPr id="34" name="Image 30" descr="preencoded.png"/>
          <p:cNvPicPr>
            <a:picLocks noChangeAspect="1"/>
          </p:cNvPicPr>
          <p:nvPr/>
        </p:nvPicPr>
        <p:blipFill>
          <a:blip r:embed="rId31"/>
          <a:srcRect r="2" b="3"/>
          <a:stretch/>
        </p:blipFill>
        <p:spPr>
          <a:xfrm>
            <a:off x="8784166" y="596898"/>
            <a:ext cx="58639" cy="66163"/>
          </a:xfrm>
          <a:prstGeom prst="rect">
            <a:avLst/>
          </a:prstGeom>
        </p:spPr>
      </p:pic>
      <p:pic>
        <p:nvPicPr>
          <p:cNvPr id="35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9"/>
            <a:ext cx="64911" cy="64284"/>
          </a:xfrm>
          <a:prstGeom prst="rect">
            <a:avLst/>
          </a:prstGeom>
        </p:spPr>
      </p:pic>
      <p:pic>
        <p:nvPicPr>
          <p:cNvPr id="36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7" name="Image 33" descr="preencoded.png"/>
          <p:cNvPicPr>
            <a:picLocks noChangeAspect="1"/>
          </p:cNvPicPr>
          <p:nvPr/>
        </p:nvPicPr>
        <p:blipFill>
          <a:blip r:embed="rId34"/>
          <a:srcRect b="3"/>
          <a:stretch/>
        </p:blipFill>
        <p:spPr>
          <a:xfrm>
            <a:off x="8458357" y="356071"/>
            <a:ext cx="50843" cy="58010"/>
          </a:xfrm>
          <a:prstGeom prst="rect">
            <a:avLst/>
          </a:prstGeom>
        </p:spPr>
      </p:pic>
      <p:pic>
        <p:nvPicPr>
          <p:cNvPr id="38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7"/>
            <a:ext cx="64284" cy="63657"/>
          </a:xfrm>
          <a:prstGeom prst="rect">
            <a:avLst/>
          </a:prstGeom>
        </p:spPr>
      </p:pic>
      <p:pic>
        <p:nvPicPr>
          <p:cNvPr id="39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8519818" y="262626"/>
            <a:ext cx="64911" cy="65224"/>
          </a:xfrm>
          <a:prstGeom prst="rect">
            <a:avLst/>
          </a:prstGeom>
        </p:spPr>
      </p:pic>
      <p:pic>
        <p:nvPicPr>
          <p:cNvPr id="40" name="Image 36" descr="preencoded.png"/>
          <p:cNvPicPr>
            <a:picLocks noChangeAspect="1"/>
          </p:cNvPicPr>
          <p:nvPr/>
        </p:nvPicPr>
        <p:blipFill>
          <a:blip r:embed="rId37"/>
          <a:srcRect r="-2" b="2"/>
          <a:stretch/>
        </p:blipFill>
        <p:spPr>
          <a:xfrm>
            <a:off x="8570932" y="240139"/>
            <a:ext cx="54407" cy="55411"/>
          </a:xfrm>
          <a:prstGeom prst="rect">
            <a:avLst/>
          </a:prstGeom>
        </p:spPr>
      </p:pic>
      <p:pic>
        <p:nvPicPr>
          <p:cNvPr id="41" name="Image 37" descr="preencoded.png"/>
          <p:cNvPicPr>
            <a:picLocks noChangeAspect="1"/>
          </p:cNvPicPr>
          <p:nvPr/>
        </p:nvPicPr>
        <p:blipFill>
          <a:blip r:embed="rId38"/>
          <a:srcRect b="4"/>
          <a:stretch/>
        </p:blipFill>
        <p:spPr>
          <a:xfrm>
            <a:off x="8625496" y="222484"/>
            <a:ext cx="46410" cy="53620"/>
          </a:xfrm>
          <a:prstGeom prst="rect">
            <a:avLst/>
          </a:prstGeom>
        </p:spPr>
      </p:pic>
      <p:pic>
        <p:nvPicPr>
          <p:cNvPr id="42" name="Image 38" descr="preencoded.png"/>
          <p:cNvPicPr>
            <a:picLocks noChangeAspect="1"/>
          </p:cNvPicPr>
          <p:nvPr/>
        </p:nvPicPr>
        <p:blipFill>
          <a:blip r:embed="rId39"/>
          <a:srcRect b="4"/>
          <a:stretch/>
        </p:blipFill>
        <p:spPr>
          <a:xfrm>
            <a:off x="8676923" y="221545"/>
            <a:ext cx="43588" cy="47662"/>
          </a:xfrm>
          <a:prstGeom prst="rect">
            <a:avLst/>
          </a:prstGeom>
        </p:spPr>
      </p:pic>
      <p:pic>
        <p:nvPicPr>
          <p:cNvPr id="43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2"/>
            <a:ext cx="50031" cy="49267"/>
          </a:xfrm>
          <a:prstGeom prst="rect">
            <a:avLst/>
          </a:prstGeom>
        </p:spPr>
      </p:pic>
      <p:pic>
        <p:nvPicPr>
          <p:cNvPr id="44" name="Image 40" descr="preencoded.png"/>
          <p:cNvPicPr>
            <a:picLocks noChangeAspect="1"/>
          </p:cNvPicPr>
          <p:nvPr/>
        </p:nvPicPr>
        <p:blipFill>
          <a:blip r:embed="rId41"/>
          <a:srcRect b="3"/>
          <a:stretch/>
        </p:blipFill>
        <p:spPr>
          <a:xfrm>
            <a:off x="8767860" y="244748"/>
            <a:ext cx="63343" cy="63968"/>
          </a:xfrm>
          <a:prstGeom prst="rect">
            <a:avLst/>
          </a:prstGeom>
        </p:spPr>
      </p:pic>
      <p:pic>
        <p:nvPicPr>
          <p:cNvPr id="45" name="Image 41" descr="preencoded.png"/>
          <p:cNvPicPr>
            <a:picLocks noChangeAspect="1"/>
          </p:cNvPicPr>
          <p:nvPr/>
        </p:nvPicPr>
        <p:blipFill>
          <a:blip r:embed="rId42"/>
          <a:srcRect r="2" b="-4"/>
          <a:stretch/>
        </p:blipFill>
        <p:spPr>
          <a:xfrm>
            <a:off x="8818974" y="277988"/>
            <a:ext cx="53308" cy="52997"/>
          </a:xfrm>
          <a:prstGeom prst="rect">
            <a:avLst/>
          </a:prstGeom>
        </p:spPr>
      </p:pic>
      <p:pic>
        <p:nvPicPr>
          <p:cNvPr id="46" name="Image 42" descr="preencoded.png"/>
          <p:cNvPicPr>
            <a:picLocks noChangeAspect="1"/>
          </p:cNvPicPr>
          <p:nvPr/>
        </p:nvPicPr>
        <p:blipFill>
          <a:blip r:embed="rId43"/>
          <a:srcRect b="-2"/>
          <a:stretch/>
        </p:blipFill>
        <p:spPr>
          <a:xfrm>
            <a:off x="8840298" y="320008"/>
            <a:ext cx="59580" cy="56759"/>
          </a:xfrm>
          <a:prstGeom prst="rect">
            <a:avLst/>
          </a:prstGeom>
        </p:spPr>
      </p:pic>
      <p:pic>
        <p:nvPicPr>
          <p:cNvPr id="47" name="Image 43" descr="preencoded.png"/>
          <p:cNvPicPr>
            <a:picLocks noChangeAspect="1"/>
          </p:cNvPicPr>
          <p:nvPr/>
        </p:nvPicPr>
        <p:blipFill>
          <a:blip r:embed="rId44"/>
          <a:srcRect b="5"/>
          <a:stretch/>
        </p:blipFill>
        <p:spPr>
          <a:xfrm>
            <a:off x="8865071" y="362969"/>
            <a:ext cx="53622" cy="43272"/>
          </a:xfrm>
          <a:prstGeom prst="rect">
            <a:avLst/>
          </a:prstGeom>
        </p:spPr>
      </p:pic>
      <p:sp>
        <p:nvSpPr>
          <p:cNvPr id="48" name="Shape 2"/>
          <p:cNvSpPr/>
          <p:nvPr/>
        </p:nvSpPr>
        <p:spPr>
          <a:xfrm>
            <a:off x="190500" y="333375"/>
            <a:ext cx="8763000" cy="2847975"/>
          </a:xfrm>
          <a:prstGeom prst="rect">
            <a:avLst/>
          </a:prstGeom>
          <a:noFill/>
          <a:ln/>
        </p:spPr>
      </p:sp>
      <p:sp>
        <p:nvSpPr>
          <p:cNvPr id="49" name="Shape 3"/>
          <p:cNvSpPr/>
          <p:nvPr/>
        </p:nvSpPr>
        <p:spPr>
          <a:xfrm>
            <a:off x="190500" y="333375"/>
            <a:ext cx="4948238" cy="266700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190500" y="333375"/>
            <a:ext cx="49482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Тесты T1–T10</a:t>
            </a:r>
            <a:endParaRPr lang="en-US" sz="2850" dirty="0"/>
          </a:p>
        </p:txBody>
      </p:sp>
      <p:sp>
        <p:nvSpPr>
          <p:cNvPr id="51" name="Shape 5"/>
          <p:cNvSpPr/>
          <p:nvPr/>
        </p:nvSpPr>
        <p:spPr>
          <a:xfrm>
            <a:off x="190500" y="885825"/>
            <a:ext cx="4452938" cy="2295525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</p:spPr>
      </p:sp>
      <p:sp>
        <p:nvSpPr>
          <p:cNvPr id="52" name="Shape 6"/>
          <p:cNvSpPr/>
          <p:nvPr/>
        </p:nvSpPr>
        <p:spPr>
          <a:xfrm>
            <a:off x="381000" y="1171575"/>
            <a:ext cx="4071938" cy="1724025"/>
          </a:xfrm>
          <a:prstGeom prst="rect">
            <a:avLst/>
          </a:prstGeom>
          <a:noFill/>
          <a:ln/>
        </p:spPr>
      </p:sp>
      <p:sp>
        <p:nvSpPr>
          <p:cNvPr id="53" name="Shape 7"/>
          <p:cNvSpPr/>
          <p:nvPr/>
        </p:nvSpPr>
        <p:spPr>
          <a:xfrm>
            <a:off x="381000" y="11715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54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1171575"/>
            <a:ext cx="209550" cy="146340"/>
          </a:xfrm>
          <a:prstGeom prst="rect">
            <a:avLst/>
          </a:prstGeom>
        </p:spPr>
      </p:pic>
      <p:sp>
        <p:nvSpPr>
          <p:cNvPr id="55" name="Text 8"/>
          <p:cNvSpPr/>
          <p:nvPr/>
        </p:nvSpPr>
        <p:spPr>
          <a:xfrm>
            <a:off x="647700" y="11715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T1 PASS — Электронная очередь онлайн</a:t>
            </a:r>
            <a:endParaRPr lang="en-US" sz="1140" dirty="0"/>
          </a:p>
        </p:txBody>
      </p:sp>
      <p:sp>
        <p:nvSpPr>
          <p:cNvPr id="56" name="Shape 9"/>
          <p:cNvSpPr/>
          <p:nvPr/>
        </p:nvSpPr>
        <p:spPr>
          <a:xfrm>
            <a:off x="381000" y="14382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57" name="Image 45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1438275"/>
            <a:ext cx="209550" cy="146340"/>
          </a:xfrm>
          <a:prstGeom prst="rect">
            <a:avLst/>
          </a:prstGeom>
        </p:spPr>
      </p:pic>
      <p:sp>
        <p:nvSpPr>
          <p:cNvPr id="58" name="Text 10"/>
          <p:cNvSpPr/>
          <p:nvPr/>
        </p:nvSpPr>
        <p:spPr>
          <a:xfrm>
            <a:off x="647700" y="14382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T2 PASS — QR-код для быстрого входа</a:t>
            </a:r>
            <a:endParaRPr lang="en-US" sz="1140" dirty="0"/>
          </a:p>
        </p:txBody>
      </p:sp>
      <p:sp>
        <p:nvSpPr>
          <p:cNvPr id="59" name="Shape 11"/>
          <p:cNvSpPr/>
          <p:nvPr/>
        </p:nvSpPr>
        <p:spPr>
          <a:xfrm>
            <a:off x="381000" y="17049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60" name="Image 46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1704975"/>
            <a:ext cx="209550" cy="146340"/>
          </a:xfrm>
          <a:prstGeom prst="rect">
            <a:avLst/>
          </a:prstGeom>
        </p:spPr>
      </p:pic>
      <p:sp>
        <p:nvSpPr>
          <p:cNvPr id="61" name="Text 12"/>
          <p:cNvSpPr/>
          <p:nvPr/>
        </p:nvSpPr>
        <p:spPr>
          <a:xfrm>
            <a:off x="647700" y="17049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T3 PASS — Талон на месте (терминал)</a:t>
            </a:r>
            <a:endParaRPr lang="en-US" sz="1140" dirty="0"/>
          </a:p>
        </p:txBody>
      </p:sp>
      <p:sp>
        <p:nvSpPr>
          <p:cNvPr id="62" name="Shape 13"/>
          <p:cNvSpPr/>
          <p:nvPr/>
        </p:nvSpPr>
        <p:spPr>
          <a:xfrm>
            <a:off x="381000" y="19716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63" name="Image 47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1971675"/>
            <a:ext cx="209550" cy="146340"/>
          </a:xfrm>
          <a:prstGeom prst="rect">
            <a:avLst/>
          </a:prstGeom>
        </p:spPr>
      </p:pic>
      <p:sp>
        <p:nvSpPr>
          <p:cNvPr id="64" name="Text 14"/>
          <p:cNvSpPr/>
          <p:nvPr/>
        </p:nvSpPr>
        <p:spPr>
          <a:xfrm>
            <a:off x="647700" y="19716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T4 PASS — Вызов клиента оператором</a:t>
            </a:r>
            <a:endParaRPr lang="en-US" sz="1140" dirty="0"/>
          </a:p>
        </p:txBody>
      </p:sp>
      <p:sp>
        <p:nvSpPr>
          <p:cNvPr id="65" name="Shape 15"/>
          <p:cNvSpPr/>
          <p:nvPr/>
        </p:nvSpPr>
        <p:spPr>
          <a:xfrm>
            <a:off x="381000" y="22383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66" name="Image 48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2238375"/>
            <a:ext cx="209550" cy="146340"/>
          </a:xfrm>
          <a:prstGeom prst="rect">
            <a:avLst/>
          </a:prstGeom>
        </p:spPr>
      </p:pic>
      <p:sp>
        <p:nvSpPr>
          <p:cNvPr id="67" name="Text 16"/>
          <p:cNvSpPr/>
          <p:nvPr/>
        </p:nvSpPr>
        <p:spPr>
          <a:xfrm>
            <a:off x="647700" y="22383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T5 PASS — Табло отображения очереди</a:t>
            </a:r>
            <a:endParaRPr lang="en-US" sz="1140" dirty="0"/>
          </a:p>
        </p:txBody>
      </p:sp>
      <p:sp>
        <p:nvSpPr>
          <p:cNvPr id="68" name="Shape 17"/>
          <p:cNvSpPr/>
          <p:nvPr/>
        </p:nvSpPr>
        <p:spPr>
          <a:xfrm>
            <a:off x="381000" y="25050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69" name="Image 49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2505075"/>
            <a:ext cx="209550" cy="146340"/>
          </a:xfrm>
          <a:prstGeom prst="rect">
            <a:avLst/>
          </a:prstGeom>
        </p:spPr>
      </p:pic>
      <p:sp>
        <p:nvSpPr>
          <p:cNvPr id="70" name="Text 18"/>
          <p:cNvSpPr/>
          <p:nvPr/>
        </p:nvSpPr>
        <p:spPr>
          <a:xfrm>
            <a:off x="647700" y="2505075"/>
            <a:ext cx="3810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T6 PASS — Рабочее место администратора</a:t>
            </a:r>
            <a:endParaRPr lang="en-US" sz="1140" dirty="0"/>
          </a:p>
        </p:txBody>
      </p:sp>
      <p:sp>
        <p:nvSpPr>
          <p:cNvPr id="71" name="Shape 19"/>
          <p:cNvSpPr/>
          <p:nvPr/>
        </p:nvSpPr>
        <p:spPr>
          <a:xfrm>
            <a:off x="381000" y="27717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72" name="Image 50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2771775"/>
            <a:ext cx="209550" cy="146340"/>
          </a:xfrm>
          <a:prstGeom prst="rect">
            <a:avLst/>
          </a:prstGeom>
        </p:spPr>
      </p:pic>
      <p:sp>
        <p:nvSpPr>
          <p:cNvPr id="73" name="Text 20"/>
          <p:cNvSpPr/>
          <p:nvPr/>
        </p:nvSpPr>
        <p:spPr>
          <a:xfrm>
            <a:off x="647700" y="2771775"/>
            <a:ext cx="3810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T7 PASS — Умная маршрутизация CallNext</a:t>
            </a:r>
            <a:endParaRPr lang="en-US" sz="1140" dirty="0"/>
          </a:p>
        </p:txBody>
      </p:sp>
      <p:pic>
        <p:nvPicPr>
          <p:cNvPr id="74" name="Image 51" descr="preencoded.png"/>
          <p:cNvPicPr>
            <a:picLocks noChangeAspect="1"/>
          </p:cNvPicPr>
          <p:nvPr/>
        </p:nvPicPr>
        <p:blipFill>
          <a:blip r:embed="rId46"/>
          <a:srcRect b="3359"/>
          <a:stretch/>
        </p:blipFill>
        <p:spPr>
          <a:xfrm>
            <a:off x="5238750" y="1581150"/>
            <a:ext cx="3686175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6"/>
            <a:ext cx="15679" cy="225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b="-5"/>
          <a:stretch/>
        </p:blipFill>
        <p:spPr>
          <a:xfrm>
            <a:off x="8889843" y="436034"/>
            <a:ext cx="16306" cy="38886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8908031" y="445126"/>
            <a:ext cx="15365" cy="2258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6"/>
            <a:ext cx="15993" cy="2258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8485638" y="445126"/>
            <a:ext cx="15365" cy="2258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1"/>
            <a:ext cx="515526" cy="51552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0"/>
            <a:ext cx="24623" cy="1598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 b="9"/>
          <a:stretch/>
        </p:blipFill>
        <p:spPr>
          <a:xfrm>
            <a:off x="8617059" y="428163"/>
            <a:ext cx="23871" cy="11078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/>
          <a:srcRect b="30"/>
          <a:stretch/>
        </p:blipFill>
        <p:spPr>
          <a:xfrm>
            <a:off x="8644883" y="412565"/>
            <a:ext cx="9399" cy="10092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 b="21"/>
          <a:stretch/>
        </p:blipFill>
        <p:spPr>
          <a:xfrm>
            <a:off x="8670651" y="500946"/>
            <a:ext cx="11916" cy="14422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rcRect r="10" b="7"/>
          <a:stretch/>
        </p:blipFill>
        <p:spPr>
          <a:xfrm>
            <a:off x="8705772" y="501574"/>
            <a:ext cx="10034" cy="13483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/>
          <a:srcRect b="11"/>
          <a:stretch/>
        </p:blipFill>
        <p:spPr>
          <a:xfrm>
            <a:off x="8670651" y="477427"/>
            <a:ext cx="11916" cy="17622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4"/>
          <a:srcRect b="12"/>
          <a:stretch/>
        </p:blipFill>
        <p:spPr>
          <a:xfrm>
            <a:off x="8688838" y="479310"/>
            <a:ext cx="10975" cy="16055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4"/>
            <a:ext cx="19321" cy="5739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8"/>
            <a:ext cx="15679" cy="5018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401"/>
            <a:ext cx="36762" cy="7590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745789" y="565330"/>
            <a:ext cx="51612" cy="10051"/>
          </a:xfrm>
          <a:prstGeom prst="rect">
            <a:avLst/>
          </a:prstGeom>
        </p:spPr>
      </p:pic>
      <p:pic>
        <p:nvPicPr>
          <p:cNvPr id="23" name="Image 19" descr="preencoded.png"/>
          <p:cNvPicPr>
            <a:picLocks noChangeAspect="1"/>
          </p:cNvPicPr>
          <p:nvPr/>
        </p:nvPicPr>
        <p:blipFill>
          <a:blip r:embed="rId20"/>
          <a:srcRect r="2" b="-33"/>
          <a:stretch/>
        </p:blipFill>
        <p:spPr>
          <a:xfrm>
            <a:off x="8673837" y="553647"/>
            <a:ext cx="46661" cy="9232"/>
          </a:xfrm>
          <a:prstGeom prst="rect">
            <a:avLst/>
          </a:prstGeom>
        </p:spPr>
      </p:pic>
      <p:pic>
        <p:nvPicPr>
          <p:cNvPr id="24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6"/>
            <a:ext cx="337412" cy="337412"/>
          </a:xfrm>
          <a:prstGeom prst="rect">
            <a:avLst/>
          </a:prstGeom>
        </p:spPr>
      </p:pic>
      <p:pic>
        <p:nvPicPr>
          <p:cNvPr id="25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5"/>
            <a:ext cx="11603" cy="8153"/>
          </a:xfrm>
          <a:prstGeom prst="rect">
            <a:avLst/>
          </a:prstGeom>
        </p:spPr>
      </p:pic>
      <p:pic>
        <p:nvPicPr>
          <p:cNvPr id="26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9"/>
            <a:ext cx="15679" cy="5646"/>
          </a:xfrm>
          <a:prstGeom prst="rect">
            <a:avLst/>
          </a:prstGeom>
        </p:spPr>
      </p:pic>
      <p:pic>
        <p:nvPicPr>
          <p:cNvPr id="27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8668770" y="436345"/>
            <a:ext cx="15365" cy="5330"/>
          </a:xfrm>
          <a:prstGeom prst="rect">
            <a:avLst/>
          </a:prstGeom>
        </p:spPr>
      </p:pic>
      <p:pic>
        <p:nvPicPr>
          <p:cNvPr id="28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29" name="Image 25" descr="preencoded.png"/>
          <p:cNvPicPr>
            <a:picLocks noChangeAspect="1"/>
          </p:cNvPicPr>
          <p:nvPr/>
        </p:nvPicPr>
        <p:blipFill>
          <a:blip r:embed="rId26"/>
          <a:srcRect b="3"/>
          <a:stretch/>
        </p:blipFill>
        <p:spPr>
          <a:xfrm>
            <a:off x="8491283" y="556133"/>
            <a:ext cx="64911" cy="64596"/>
          </a:xfrm>
          <a:prstGeom prst="rect">
            <a:avLst/>
          </a:prstGeom>
        </p:spPr>
      </p:pic>
      <p:pic>
        <p:nvPicPr>
          <p:cNvPr id="30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31" name="Image 27" descr="preencoded.png"/>
          <p:cNvPicPr>
            <a:picLocks noChangeAspect="1"/>
          </p:cNvPicPr>
          <p:nvPr/>
        </p:nvPicPr>
        <p:blipFill>
          <a:blip r:embed="rId28"/>
          <a:srcRect r="-2" b="2"/>
          <a:stretch/>
        </p:blipFill>
        <p:spPr>
          <a:xfrm>
            <a:off x="8602483" y="634515"/>
            <a:ext cx="52924" cy="49574"/>
          </a:xfrm>
          <a:prstGeom prst="rect">
            <a:avLst/>
          </a:prstGeom>
        </p:spPr>
      </p:pic>
      <p:pic>
        <p:nvPicPr>
          <p:cNvPr id="32" name="Image 28" descr="preencoded.png"/>
          <p:cNvPicPr>
            <a:picLocks noChangeAspect="1"/>
          </p:cNvPicPr>
          <p:nvPr/>
        </p:nvPicPr>
        <p:blipFill>
          <a:blip r:embed="rId29"/>
          <a:srcRect r="2"/>
          <a:stretch/>
        </p:blipFill>
        <p:spPr>
          <a:xfrm>
            <a:off x="8670023" y="643937"/>
            <a:ext cx="45155" cy="47978"/>
          </a:xfrm>
          <a:prstGeom prst="rect">
            <a:avLst/>
          </a:prstGeom>
        </p:spPr>
      </p:pic>
      <p:pic>
        <p:nvPicPr>
          <p:cNvPr id="33" name="Image 29" descr="preencoded.png"/>
          <p:cNvPicPr>
            <a:picLocks noChangeAspect="1"/>
          </p:cNvPicPr>
          <p:nvPr/>
        </p:nvPicPr>
        <p:blipFill>
          <a:blip r:embed="rId30"/>
          <a:srcRect r="-2" b="2"/>
          <a:stretch/>
        </p:blipFill>
        <p:spPr>
          <a:xfrm>
            <a:off x="8729997" y="632403"/>
            <a:ext cx="51895" cy="49723"/>
          </a:xfrm>
          <a:prstGeom prst="rect">
            <a:avLst/>
          </a:prstGeom>
        </p:spPr>
      </p:pic>
      <p:pic>
        <p:nvPicPr>
          <p:cNvPr id="34" name="Image 30" descr="preencoded.png"/>
          <p:cNvPicPr>
            <a:picLocks noChangeAspect="1"/>
          </p:cNvPicPr>
          <p:nvPr/>
        </p:nvPicPr>
        <p:blipFill>
          <a:blip r:embed="rId31"/>
          <a:srcRect r="2" b="3"/>
          <a:stretch/>
        </p:blipFill>
        <p:spPr>
          <a:xfrm>
            <a:off x="8784166" y="596898"/>
            <a:ext cx="58639" cy="66163"/>
          </a:xfrm>
          <a:prstGeom prst="rect">
            <a:avLst/>
          </a:prstGeom>
        </p:spPr>
      </p:pic>
      <p:pic>
        <p:nvPicPr>
          <p:cNvPr id="35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9"/>
            <a:ext cx="64911" cy="64284"/>
          </a:xfrm>
          <a:prstGeom prst="rect">
            <a:avLst/>
          </a:prstGeom>
        </p:spPr>
      </p:pic>
      <p:pic>
        <p:nvPicPr>
          <p:cNvPr id="36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7" name="Image 33" descr="preencoded.png"/>
          <p:cNvPicPr>
            <a:picLocks noChangeAspect="1"/>
          </p:cNvPicPr>
          <p:nvPr/>
        </p:nvPicPr>
        <p:blipFill>
          <a:blip r:embed="rId34"/>
          <a:srcRect b="3"/>
          <a:stretch/>
        </p:blipFill>
        <p:spPr>
          <a:xfrm>
            <a:off x="8458357" y="356071"/>
            <a:ext cx="50843" cy="58010"/>
          </a:xfrm>
          <a:prstGeom prst="rect">
            <a:avLst/>
          </a:prstGeom>
        </p:spPr>
      </p:pic>
      <p:pic>
        <p:nvPicPr>
          <p:cNvPr id="38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7"/>
            <a:ext cx="64284" cy="63657"/>
          </a:xfrm>
          <a:prstGeom prst="rect">
            <a:avLst/>
          </a:prstGeom>
        </p:spPr>
      </p:pic>
      <p:pic>
        <p:nvPicPr>
          <p:cNvPr id="39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8519818" y="262626"/>
            <a:ext cx="64911" cy="65224"/>
          </a:xfrm>
          <a:prstGeom prst="rect">
            <a:avLst/>
          </a:prstGeom>
        </p:spPr>
      </p:pic>
      <p:pic>
        <p:nvPicPr>
          <p:cNvPr id="40" name="Image 36" descr="preencoded.png"/>
          <p:cNvPicPr>
            <a:picLocks noChangeAspect="1"/>
          </p:cNvPicPr>
          <p:nvPr/>
        </p:nvPicPr>
        <p:blipFill>
          <a:blip r:embed="rId37"/>
          <a:srcRect r="-2" b="2"/>
          <a:stretch/>
        </p:blipFill>
        <p:spPr>
          <a:xfrm>
            <a:off x="8570932" y="240139"/>
            <a:ext cx="54407" cy="55411"/>
          </a:xfrm>
          <a:prstGeom prst="rect">
            <a:avLst/>
          </a:prstGeom>
        </p:spPr>
      </p:pic>
      <p:pic>
        <p:nvPicPr>
          <p:cNvPr id="41" name="Image 37" descr="preencoded.png"/>
          <p:cNvPicPr>
            <a:picLocks noChangeAspect="1"/>
          </p:cNvPicPr>
          <p:nvPr/>
        </p:nvPicPr>
        <p:blipFill>
          <a:blip r:embed="rId38"/>
          <a:srcRect b="4"/>
          <a:stretch/>
        </p:blipFill>
        <p:spPr>
          <a:xfrm>
            <a:off x="8625496" y="222484"/>
            <a:ext cx="46410" cy="53620"/>
          </a:xfrm>
          <a:prstGeom prst="rect">
            <a:avLst/>
          </a:prstGeom>
        </p:spPr>
      </p:pic>
      <p:pic>
        <p:nvPicPr>
          <p:cNvPr id="42" name="Image 38" descr="preencoded.png"/>
          <p:cNvPicPr>
            <a:picLocks noChangeAspect="1"/>
          </p:cNvPicPr>
          <p:nvPr/>
        </p:nvPicPr>
        <p:blipFill>
          <a:blip r:embed="rId39"/>
          <a:srcRect b="4"/>
          <a:stretch/>
        </p:blipFill>
        <p:spPr>
          <a:xfrm>
            <a:off x="8676923" y="221545"/>
            <a:ext cx="43588" cy="47662"/>
          </a:xfrm>
          <a:prstGeom prst="rect">
            <a:avLst/>
          </a:prstGeom>
        </p:spPr>
      </p:pic>
      <p:pic>
        <p:nvPicPr>
          <p:cNvPr id="43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2"/>
            <a:ext cx="50031" cy="49267"/>
          </a:xfrm>
          <a:prstGeom prst="rect">
            <a:avLst/>
          </a:prstGeom>
        </p:spPr>
      </p:pic>
      <p:pic>
        <p:nvPicPr>
          <p:cNvPr id="44" name="Image 40" descr="preencoded.png"/>
          <p:cNvPicPr>
            <a:picLocks noChangeAspect="1"/>
          </p:cNvPicPr>
          <p:nvPr/>
        </p:nvPicPr>
        <p:blipFill>
          <a:blip r:embed="rId41"/>
          <a:srcRect b="3"/>
          <a:stretch/>
        </p:blipFill>
        <p:spPr>
          <a:xfrm>
            <a:off x="8767860" y="244748"/>
            <a:ext cx="63343" cy="63968"/>
          </a:xfrm>
          <a:prstGeom prst="rect">
            <a:avLst/>
          </a:prstGeom>
        </p:spPr>
      </p:pic>
      <p:pic>
        <p:nvPicPr>
          <p:cNvPr id="45" name="Image 41" descr="preencoded.png"/>
          <p:cNvPicPr>
            <a:picLocks noChangeAspect="1"/>
          </p:cNvPicPr>
          <p:nvPr/>
        </p:nvPicPr>
        <p:blipFill>
          <a:blip r:embed="rId42"/>
          <a:srcRect r="2" b="-4"/>
          <a:stretch/>
        </p:blipFill>
        <p:spPr>
          <a:xfrm>
            <a:off x="8818974" y="277988"/>
            <a:ext cx="53308" cy="52997"/>
          </a:xfrm>
          <a:prstGeom prst="rect">
            <a:avLst/>
          </a:prstGeom>
        </p:spPr>
      </p:pic>
      <p:pic>
        <p:nvPicPr>
          <p:cNvPr id="46" name="Image 42" descr="preencoded.png"/>
          <p:cNvPicPr>
            <a:picLocks noChangeAspect="1"/>
          </p:cNvPicPr>
          <p:nvPr/>
        </p:nvPicPr>
        <p:blipFill>
          <a:blip r:embed="rId43"/>
          <a:srcRect b="-2"/>
          <a:stretch/>
        </p:blipFill>
        <p:spPr>
          <a:xfrm>
            <a:off x="8840298" y="320008"/>
            <a:ext cx="59580" cy="56759"/>
          </a:xfrm>
          <a:prstGeom prst="rect">
            <a:avLst/>
          </a:prstGeom>
        </p:spPr>
      </p:pic>
      <p:pic>
        <p:nvPicPr>
          <p:cNvPr id="47" name="Image 43" descr="preencoded.png"/>
          <p:cNvPicPr>
            <a:picLocks noChangeAspect="1"/>
          </p:cNvPicPr>
          <p:nvPr/>
        </p:nvPicPr>
        <p:blipFill>
          <a:blip r:embed="rId44"/>
          <a:srcRect b="5"/>
          <a:stretch/>
        </p:blipFill>
        <p:spPr>
          <a:xfrm>
            <a:off x="8865071" y="362969"/>
            <a:ext cx="53622" cy="43272"/>
          </a:xfrm>
          <a:prstGeom prst="rect">
            <a:avLst/>
          </a:prstGeom>
        </p:spPr>
      </p:pic>
      <p:sp>
        <p:nvSpPr>
          <p:cNvPr id="48" name="Shape 2"/>
          <p:cNvSpPr/>
          <p:nvPr/>
        </p:nvSpPr>
        <p:spPr>
          <a:xfrm>
            <a:off x="190500" y="333375"/>
            <a:ext cx="6186488" cy="3086100"/>
          </a:xfrm>
          <a:prstGeom prst="rect">
            <a:avLst/>
          </a:prstGeom>
          <a:noFill/>
          <a:ln/>
        </p:spPr>
      </p:sp>
      <p:sp>
        <p:nvSpPr>
          <p:cNvPr id="49" name="Text 3"/>
          <p:cNvSpPr/>
          <p:nvPr/>
        </p:nvSpPr>
        <p:spPr>
          <a:xfrm>
            <a:off x="190500" y="333375"/>
            <a:ext cx="61864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Техническое решение</a:t>
            </a:r>
            <a:endParaRPr lang="en-US" sz="2850" dirty="0"/>
          </a:p>
        </p:txBody>
      </p:sp>
      <p:sp>
        <p:nvSpPr>
          <p:cNvPr id="50" name="Shape 4"/>
          <p:cNvSpPr/>
          <p:nvPr/>
        </p:nvSpPr>
        <p:spPr>
          <a:xfrm>
            <a:off x="190500" y="1076325"/>
            <a:ext cx="6143625" cy="2343150"/>
          </a:xfrm>
          <a:prstGeom prst="rect">
            <a:avLst/>
          </a:prstGeom>
          <a:noFill/>
          <a:ln/>
        </p:spPr>
      </p:sp>
      <p:sp>
        <p:nvSpPr>
          <p:cNvPr id="51" name="Shape 5"/>
          <p:cNvSpPr/>
          <p:nvPr/>
        </p:nvSpPr>
        <p:spPr>
          <a:xfrm>
            <a:off x="190500" y="1076325"/>
            <a:ext cx="5610225" cy="152400"/>
          </a:xfrm>
          <a:prstGeom prst="rect">
            <a:avLst/>
          </a:prstGeom>
          <a:noFill/>
          <a:ln/>
        </p:spPr>
      </p:sp>
      <p:pic>
        <p:nvPicPr>
          <p:cNvPr id="52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1152525"/>
            <a:ext cx="209550" cy="140280"/>
          </a:xfrm>
          <a:prstGeom prst="rect">
            <a:avLst/>
          </a:prstGeom>
        </p:spPr>
      </p:pic>
      <p:sp>
        <p:nvSpPr>
          <p:cNvPr id="53" name="Text 6"/>
          <p:cNvSpPr/>
          <p:nvPr/>
        </p:nvSpPr>
        <p:spPr>
          <a:xfrm>
            <a:off x="476250" y="1076325"/>
            <a:ext cx="3657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Backend: Go (Chi router, pgx, SSE)</a:t>
            </a:r>
            <a:endParaRPr lang="en-US" sz="1639" dirty="0"/>
          </a:p>
        </p:txBody>
      </p:sp>
      <p:sp>
        <p:nvSpPr>
          <p:cNvPr id="54" name="Shape 7"/>
          <p:cNvSpPr/>
          <p:nvPr/>
        </p:nvSpPr>
        <p:spPr>
          <a:xfrm>
            <a:off x="190500" y="1514475"/>
            <a:ext cx="6143625" cy="152400"/>
          </a:xfrm>
          <a:prstGeom prst="rect">
            <a:avLst/>
          </a:prstGeom>
          <a:noFill/>
          <a:ln/>
        </p:spPr>
      </p:sp>
      <p:pic>
        <p:nvPicPr>
          <p:cNvPr id="55" name="Image 45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1590675"/>
            <a:ext cx="209550" cy="140280"/>
          </a:xfrm>
          <a:prstGeom prst="rect">
            <a:avLst/>
          </a:prstGeom>
        </p:spPr>
      </p:pic>
      <p:sp>
        <p:nvSpPr>
          <p:cNvPr id="56" name="Text 8"/>
          <p:cNvSpPr/>
          <p:nvPr/>
        </p:nvSpPr>
        <p:spPr>
          <a:xfrm>
            <a:off x="476250" y="1514475"/>
            <a:ext cx="3657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Frontend: React + TypeScript + Tailwind</a:t>
            </a:r>
            <a:endParaRPr lang="en-US" sz="1639" dirty="0"/>
          </a:p>
        </p:txBody>
      </p:sp>
      <p:sp>
        <p:nvSpPr>
          <p:cNvPr id="57" name="Shape 9"/>
          <p:cNvSpPr/>
          <p:nvPr/>
        </p:nvSpPr>
        <p:spPr>
          <a:xfrm>
            <a:off x="190500" y="1952625"/>
            <a:ext cx="5553075" cy="152400"/>
          </a:xfrm>
          <a:prstGeom prst="rect">
            <a:avLst/>
          </a:prstGeom>
          <a:noFill/>
          <a:ln/>
        </p:spPr>
      </p:sp>
      <p:pic>
        <p:nvPicPr>
          <p:cNvPr id="58" name="Image 46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2028825"/>
            <a:ext cx="209550" cy="140280"/>
          </a:xfrm>
          <a:prstGeom prst="rect">
            <a:avLst/>
          </a:prstGeom>
        </p:spPr>
      </p:pic>
      <p:sp>
        <p:nvSpPr>
          <p:cNvPr id="59" name="Text 10"/>
          <p:cNvSpPr/>
          <p:nvPr/>
        </p:nvSpPr>
        <p:spPr>
          <a:xfrm>
            <a:off x="476250" y="1952625"/>
            <a:ext cx="3657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База данных: PostgreSQL 16</a:t>
            </a:r>
            <a:endParaRPr lang="en-US" sz="1639" dirty="0"/>
          </a:p>
        </p:txBody>
      </p:sp>
      <p:sp>
        <p:nvSpPr>
          <p:cNvPr id="60" name="Shape 11"/>
          <p:cNvSpPr/>
          <p:nvPr/>
        </p:nvSpPr>
        <p:spPr>
          <a:xfrm>
            <a:off x="190500" y="2390775"/>
            <a:ext cx="5095875" cy="152400"/>
          </a:xfrm>
          <a:prstGeom prst="rect">
            <a:avLst/>
          </a:prstGeom>
          <a:noFill/>
          <a:ln/>
        </p:spPr>
      </p:sp>
      <p:pic>
        <p:nvPicPr>
          <p:cNvPr id="61" name="Image 47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2466975"/>
            <a:ext cx="209550" cy="140280"/>
          </a:xfrm>
          <a:prstGeom prst="rect">
            <a:avLst/>
          </a:prstGeom>
        </p:spPr>
      </p:pic>
      <p:sp>
        <p:nvSpPr>
          <p:cNvPr id="62" name="Text 12"/>
          <p:cNvSpPr/>
          <p:nvPr/>
        </p:nvSpPr>
        <p:spPr>
          <a:xfrm>
            <a:off x="476250" y="2390775"/>
            <a:ext cx="3657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Контейнеризация: Docker Compose</a:t>
            </a:r>
            <a:endParaRPr lang="en-US" sz="1639" dirty="0"/>
          </a:p>
        </p:txBody>
      </p:sp>
      <p:sp>
        <p:nvSpPr>
          <p:cNvPr id="63" name="Shape 13"/>
          <p:cNvSpPr/>
          <p:nvPr/>
        </p:nvSpPr>
        <p:spPr>
          <a:xfrm>
            <a:off x="190500" y="2828925"/>
            <a:ext cx="5614988" cy="152400"/>
          </a:xfrm>
          <a:prstGeom prst="rect">
            <a:avLst/>
          </a:prstGeom>
          <a:noFill/>
          <a:ln/>
        </p:spPr>
      </p:sp>
      <p:pic>
        <p:nvPicPr>
          <p:cNvPr id="64" name="Image 48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2905125"/>
            <a:ext cx="209550" cy="140280"/>
          </a:xfrm>
          <a:prstGeom prst="rect">
            <a:avLst/>
          </a:prstGeom>
        </p:spPr>
      </p:pic>
      <p:sp>
        <p:nvSpPr>
          <p:cNvPr id="65" name="Text 14"/>
          <p:cNvSpPr/>
          <p:nvPr/>
        </p:nvSpPr>
        <p:spPr>
          <a:xfrm>
            <a:off x="476250" y="2828925"/>
            <a:ext cx="3657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HTTPS: Nginx + Let's Encrypt</a:t>
            </a:r>
            <a:endParaRPr lang="en-US" sz="1639" dirty="0"/>
          </a:p>
        </p:txBody>
      </p:sp>
      <p:sp>
        <p:nvSpPr>
          <p:cNvPr id="66" name="Shape 15"/>
          <p:cNvSpPr/>
          <p:nvPr/>
        </p:nvSpPr>
        <p:spPr>
          <a:xfrm>
            <a:off x="190500" y="3267075"/>
            <a:ext cx="6000750" cy="152400"/>
          </a:xfrm>
          <a:prstGeom prst="rect">
            <a:avLst/>
          </a:prstGeom>
          <a:noFill/>
          <a:ln/>
        </p:spPr>
      </p:sp>
      <p:pic>
        <p:nvPicPr>
          <p:cNvPr id="67" name="Image 49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3343275"/>
            <a:ext cx="209550" cy="140280"/>
          </a:xfrm>
          <a:prstGeom prst="rect">
            <a:avLst/>
          </a:prstGeom>
        </p:spPr>
      </p:pic>
      <p:sp>
        <p:nvSpPr>
          <p:cNvPr id="68" name="Text 16"/>
          <p:cNvSpPr/>
          <p:nvPr/>
        </p:nvSpPr>
        <p:spPr>
          <a:xfrm>
            <a:off x="476250" y="3267075"/>
            <a:ext cx="3657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CI/CD: GitLab + автодеплой на VPS</a:t>
            </a:r>
            <a:endParaRPr lang="en-US" sz="1639" dirty="0"/>
          </a:p>
        </p:txBody>
      </p:sp>
      <p:pic>
        <p:nvPicPr>
          <p:cNvPr id="69" name="Image 50" descr="preencoded.png"/>
          <p:cNvPicPr>
            <a:picLocks noChangeAspect="1"/>
          </p:cNvPicPr>
          <p:nvPr/>
        </p:nvPicPr>
        <p:blipFill>
          <a:blip r:embed="rId46"/>
          <a:srcRect b="8672"/>
          <a:stretch/>
        </p:blipFill>
        <p:spPr>
          <a:xfrm>
            <a:off x="5510213" y="1933575"/>
            <a:ext cx="3514725" cy="3209925"/>
          </a:xfrm>
          <a:prstGeom prst="rect">
            <a:avLst/>
          </a:prstGeom>
        </p:spPr>
      </p:pic>
      <p:sp>
        <p:nvSpPr>
          <p:cNvPr id="70" name="Shape 17"/>
          <p:cNvSpPr/>
          <p:nvPr/>
        </p:nvSpPr>
        <p:spPr>
          <a:xfrm>
            <a:off x="190500" y="4562475"/>
            <a:ext cx="842963" cy="390525"/>
          </a:xfrm>
          <a:prstGeom prst="roundRect">
            <a:avLst>
              <a:gd name="adj" fmla="val 93659"/>
            </a:avLst>
          </a:prstGeom>
          <a:solidFill>
            <a:srgbClr val="FFFFFF"/>
          </a:solidFill>
          <a:ln/>
        </p:spPr>
      </p:sp>
      <p:sp>
        <p:nvSpPr>
          <p:cNvPr id="71" name="Text 18"/>
          <p:cNvSpPr/>
          <p:nvPr/>
        </p:nvSpPr>
        <p:spPr>
          <a:xfrm>
            <a:off x="333375" y="4705350"/>
            <a:ext cx="4000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00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Live Demo →</a:t>
            </a:r>
            <a:endParaRPr lang="en-US" sz="1140" dirty="0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997" name="Screenshot 7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029200" y="1097280"/>
            <a:ext cx="3657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361950"/>
            <a:ext cx="3757613" cy="360045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28625" y="36195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625" y="47625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76400" y="36195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b="-9"/>
          <a:stretch/>
        </p:blipFill>
        <p:spPr>
          <a:xfrm>
            <a:off x="2128269" y="616576"/>
            <a:ext cx="15679" cy="2258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46143" y="607484"/>
            <a:ext cx="16306" cy="3888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2164331" y="616576"/>
            <a:ext cx="15365" cy="2258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705877" y="616576"/>
            <a:ext cx="15993" cy="2258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1741938" y="616576"/>
            <a:ext cx="15365" cy="2258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85180" y="370731"/>
            <a:ext cx="515526" cy="515527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 b="-6"/>
          <a:stretch/>
        </p:blipFill>
        <p:spPr>
          <a:xfrm>
            <a:off x="1878682" y="588550"/>
            <a:ext cx="24623" cy="1598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 b="9"/>
          <a:stretch/>
        </p:blipFill>
        <p:spPr>
          <a:xfrm>
            <a:off x="1873359" y="599613"/>
            <a:ext cx="23871" cy="11078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 b="30"/>
          <a:stretch/>
        </p:blipFill>
        <p:spPr>
          <a:xfrm>
            <a:off x="1901183" y="584015"/>
            <a:ext cx="9399" cy="10092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 b="21"/>
          <a:stretch/>
        </p:blipFill>
        <p:spPr>
          <a:xfrm>
            <a:off x="1926951" y="672396"/>
            <a:ext cx="11916" cy="14422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 b="7"/>
          <a:stretch/>
        </p:blipFill>
        <p:spPr>
          <a:xfrm>
            <a:off x="1962072" y="673024"/>
            <a:ext cx="10035" cy="13483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 b="11"/>
          <a:stretch/>
        </p:blipFill>
        <p:spPr>
          <a:xfrm>
            <a:off x="1926951" y="648877"/>
            <a:ext cx="11916" cy="17622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944825" y="67270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 b="12"/>
          <a:stretch/>
        </p:blipFill>
        <p:spPr>
          <a:xfrm>
            <a:off x="1945138" y="650760"/>
            <a:ext cx="10975" cy="16055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964953" y="619354"/>
            <a:ext cx="19320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 b="-20"/>
          <a:stretch/>
        </p:blipFill>
        <p:spPr>
          <a:xfrm>
            <a:off x="1926010" y="628808"/>
            <a:ext cx="15679" cy="5018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870846" y="714851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 b="-20"/>
          <a:stretch/>
        </p:blipFill>
        <p:spPr>
          <a:xfrm>
            <a:off x="2002089" y="736780"/>
            <a:ext cx="51611" cy="10051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 b="-33"/>
          <a:stretch/>
        </p:blipFill>
        <p:spPr>
          <a:xfrm>
            <a:off x="1930137" y="725097"/>
            <a:ext cx="46661" cy="9232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774237" y="459786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914408" y="607795"/>
            <a:ext cx="11602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 b="-35"/>
          <a:stretch/>
        </p:blipFill>
        <p:spPr>
          <a:xfrm>
            <a:off x="1926951" y="604349"/>
            <a:ext cx="15679" cy="5646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1925069" y="607795"/>
            <a:ext cx="15365" cy="5330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1718106" y="674903"/>
            <a:ext cx="60521" cy="59266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 b="3"/>
          <a:stretch/>
        </p:blipFill>
        <p:spPr>
          <a:xfrm>
            <a:off x="1747583" y="727583"/>
            <a:ext cx="64911" cy="64596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1794933" y="771172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 b="2"/>
          <a:stretch/>
        </p:blipFill>
        <p:spPr>
          <a:xfrm>
            <a:off x="1858783" y="805965"/>
            <a:ext cx="52923" cy="49574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1926323" y="815387"/>
            <a:ext cx="45156" cy="47978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 b="2"/>
          <a:stretch/>
        </p:blipFill>
        <p:spPr>
          <a:xfrm>
            <a:off x="1986297" y="803853"/>
            <a:ext cx="51894" cy="49723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 b="3"/>
          <a:stretch/>
        </p:blipFill>
        <p:spPr>
          <a:xfrm>
            <a:off x="2040467" y="768348"/>
            <a:ext cx="58639" cy="66163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2080919" y="723509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2119195" y="67490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 b="3"/>
          <a:stretch/>
        </p:blipFill>
        <p:spPr>
          <a:xfrm>
            <a:off x="1714657" y="527521"/>
            <a:ext cx="50843" cy="58010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1737548" y="478287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1776119" y="434076"/>
            <a:ext cx="64911" cy="65224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 b="2"/>
          <a:stretch/>
        </p:blipFill>
        <p:spPr>
          <a:xfrm>
            <a:off x="1827232" y="411589"/>
            <a:ext cx="54406" cy="55411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 b="4"/>
          <a:stretch/>
        </p:blipFill>
        <p:spPr>
          <a:xfrm>
            <a:off x="1881795" y="393934"/>
            <a:ext cx="46410" cy="53620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 b="4"/>
          <a:stretch/>
        </p:blipFill>
        <p:spPr>
          <a:xfrm>
            <a:off x="1933222" y="392995"/>
            <a:ext cx="43588" cy="47662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1982283" y="402482"/>
            <a:ext cx="50031" cy="49267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 b="3"/>
          <a:stretch/>
        </p:blipFill>
        <p:spPr>
          <a:xfrm>
            <a:off x="2024160" y="416198"/>
            <a:ext cx="63343" cy="63968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2075274" y="449438"/>
            <a:ext cx="53309" cy="52997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2096598" y="491458"/>
            <a:ext cx="59580" cy="56759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 b="5"/>
          <a:stretch/>
        </p:blipFill>
        <p:spPr>
          <a:xfrm>
            <a:off x="2121371" y="534419"/>
            <a:ext cx="53622" cy="43272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428625" y="1943100"/>
            <a:ext cx="3757613" cy="400050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428625" y="1943100"/>
            <a:ext cx="6248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6"/>
              </a:lnSpc>
              <a:buNone/>
            </a:pPr>
            <a:r>
              <a:rPr lang="en-US" sz="5451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Спасибо за внимание!
</a:t>
            </a:r>
            <a:endParaRPr lang="en-US" sz="5451" dirty="0"/>
          </a:p>
        </p:txBody>
      </p:sp>
      <p:pic>
        <p:nvPicPr>
          <p:cNvPr id="51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5362575" y="2286000"/>
            <a:ext cx="3667125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Macintosh PowerPoint</Application>
  <PresentationFormat>Экран (16:9)</PresentationFormat>
  <Paragraphs>97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Golos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Zlata Shushkova</cp:lastModifiedBy>
  <cp:revision>2</cp:revision>
  <dcterms:created xsi:type="dcterms:W3CDTF">2026-09-18T14:31:45Z</dcterms:created>
  <dcterms:modified xsi:type="dcterms:W3CDTF">2026-09-18T14:36:33Z</dcterms:modified>
</cp:coreProperties>
</file>